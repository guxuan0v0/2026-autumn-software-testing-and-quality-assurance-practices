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1.svg" ContentType="image/svg+xml"/>
  <Override PartName="/ppt/media/image13.svg" ContentType="image/svg+xml"/>
  <Override PartName="/ppt/media/image15.svg" ContentType="image/svg+xml"/>
  <Override PartName="/ppt/media/image21.svg" ContentType="image/svg+xml"/>
  <Override PartName="/ppt/media/image23.svg" ContentType="image/svg+xml"/>
  <Override PartName="/ppt/media/image25.svg" ContentType="image/svg+xml"/>
  <Override PartName="/ppt/media/image27.svg" ContentType="image/svg+xml"/>
  <Override PartName="/ppt/media/image29.svg" ContentType="image/svg+xml"/>
  <Override PartName="/ppt/media/image31.svg" ContentType="image/svg+xml"/>
  <Override PartName="/ppt/media/image33.svg" ContentType="image/svg+xml"/>
  <Override PartName="/ppt/media/image42.svg" ContentType="image/svg+xml"/>
  <Override PartName="/ppt/media/image44.svg" ContentType="image/svg+xml"/>
  <Override PartName="/ppt/media/image46.svg" ContentType="image/svg+xml"/>
  <Override PartName="/ppt/media/image7.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 id="2147483662" r:id="rId4"/>
    <p:sldMasterId id="2147483664" r:id="rId5"/>
    <p:sldMasterId id="2147483666" r:id="rId6"/>
    <p:sldMasterId id="2147483668" r:id="rId7"/>
    <p:sldMasterId id="2147483670" r:id="rId8"/>
    <p:sldMasterId id="2147483672" r:id="rId9"/>
    <p:sldMasterId id="2147483674" r:id="rId10"/>
    <p:sldMasterId id="2147483676" r:id="rId11"/>
  </p:sldMasterIdLst>
  <p:notesMasterIdLst>
    <p:notesMasterId r:id="rId13"/>
  </p:notesMasterIdLst>
  <p:sldIdLst>
    <p:sldId id="256" r:id="rId12"/>
    <p:sldId id="257" r:id="rId14"/>
    <p:sldId id="259" r:id="rId15"/>
    <p:sldId id="260" r:id="rId16"/>
    <p:sldId id="285" r:id="rId17"/>
    <p:sldId id="284" r:id="rId18"/>
    <p:sldId id="266" r:id="rId19"/>
    <p:sldId id="271" r:id="rId20"/>
    <p:sldId id="261" r:id="rId21"/>
    <p:sldId id="264" r:id="rId22"/>
    <p:sldId id="286" r:id="rId23"/>
    <p:sldId id="288" r:id="rId24"/>
    <p:sldId id="265" r:id="rId25"/>
    <p:sldId id="289" r:id="rId26"/>
    <p:sldId id="290" r:id="rId27"/>
    <p:sldId id="291" r:id="rId28"/>
    <p:sldId id="277" r:id="rId29"/>
    <p:sldId id="275" r:id="rId30"/>
    <p:sldId id="276" r:id="rId31"/>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32" userDrawn="1">
          <p15:clr>
            <a:srgbClr val="747775"/>
          </p15:clr>
        </p15:guide>
        <p15:guide id="2" pos="2898"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32"/>
        <p:guide pos="2898"/>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Master" Target="slideMasters/slideMaster8.xml"/><Relationship Id="rId8" Type="http://schemas.openxmlformats.org/officeDocument/2006/relationships/slideMaster" Target="slideMasters/slideMaster7.xml"/><Relationship Id="rId7" Type="http://schemas.openxmlformats.org/officeDocument/2006/relationships/slideMaster" Target="slideMasters/slideMaster6.xml"/><Relationship Id="rId6" Type="http://schemas.openxmlformats.org/officeDocument/2006/relationships/slideMaster" Target="slideMasters/slideMaster5.xml"/><Relationship Id="rId5" Type="http://schemas.openxmlformats.org/officeDocument/2006/relationships/slideMaster" Target="slideMasters/slideMaster4.xml"/><Relationship Id="rId4" Type="http://schemas.openxmlformats.org/officeDocument/2006/relationships/slideMaster" Target="slideMasters/slideMaster3.xml"/><Relationship Id="rId34" Type="http://schemas.openxmlformats.org/officeDocument/2006/relationships/tableStyles" Target="tableStyles.xml"/><Relationship Id="rId33" Type="http://schemas.openxmlformats.org/officeDocument/2006/relationships/viewProps" Target="viewProps.xml"/><Relationship Id="rId32" Type="http://schemas.openxmlformats.org/officeDocument/2006/relationships/presProps" Target="presProps.xml"/><Relationship Id="rId31" Type="http://schemas.openxmlformats.org/officeDocument/2006/relationships/slide" Target="slides/slide19.xml"/><Relationship Id="rId30" Type="http://schemas.openxmlformats.org/officeDocument/2006/relationships/slide" Target="slides/slide18.xml"/><Relationship Id="rId3" Type="http://schemas.openxmlformats.org/officeDocument/2006/relationships/slideMaster" Target="slideMasters/slideMaster2.xml"/><Relationship Id="rId29" Type="http://schemas.openxmlformats.org/officeDocument/2006/relationships/slide" Target="slides/slide17.xml"/><Relationship Id="rId28" Type="http://schemas.openxmlformats.org/officeDocument/2006/relationships/slide" Target="slides/slide16.xml"/><Relationship Id="rId27" Type="http://schemas.openxmlformats.org/officeDocument/2006/relationships/slide" Target="slides/slide15.xml"/><Relationship Id="rId26" Type="http://schemas.openxmlformats.org/officeDocument/2006/relationships/slide" Target="slides/slide14.xml"/><Relationship Id="rId25" Type="http://schemas.openxmlformats.org/officeDocument/2006/relationships/slide" Target="slides/slide13.xml"/><Relationship Id="rId24" Type="http://schemas.openxmlformats.org/officeDocument/2006/relationships/slide" Target="slides/slide12.xml"/><Relationship Id="rId23" Type="http://schemas.openxmlformats.org/officeDocument/2006/relationships/slide" Target="slides/slide11.xml"/><Relationship Id="rId22" Type="http://schemas.openxmlformats.org/officeDocument/2006/relationships/slide" Target="slides/slide10.xml"/><Relationship Id="rId21" Type="http://schemas.openxmlformats.org/officeDocument/2006/relationships/slide" Target="slides/slide9.xml"/><Relationship Id="rId20" Type="http://schemas.openxmlformats.org/officeDocument/2006/relationships/slide" Target="slides/slide8.xml"/><Relationship Id="rId2" Type="http://schemas.openxmlformats.org/officeDocument/2006/relationships/theme" Target="theme/theme1.xml"/><Relationship Id="rId19" Type="http://schemas.openxmlformats.org/officeDocument/2006/relationships/slide" Target="slides/slide7.xml"/><Relationship Id="rId18" Type="http://schemas.openxmlformats.org/officeDocument/2006/relationships/slide" Target="slides/slide6.xml"/><Relationship Id="rId17" Type="http://schemas.openxmlformats.org/officeDocument/2006/relationships/slide" Target="slides/slide5.xml"/><Relationship Id="rId16" Type="http://schemas.openxmlformats.org/officeDocument/2006/relationships/slide" Target="slides/slide4.xml"/><Relationship Id="rId15" Type="http://schemas.openxmlformats.org/officeDocument/2006/relationships/slide" Target="slides/slide3.xml"/><Relationship Id="rId14" Type="http://schemas.openxmlformats.org/officeDocument/2006/relationships/slide" Target="slides/slide2.xml"/><Relationship Id="rId13" Type="http://schemas.openxmlformats.org/officeDocument/2006/relationships/notesMaster" Target="notesMasters/notesMaster1.xml"/><Relationship Id="rId12" Type="http://schemas.openxmlformats.org/officeDocument/2006/relationships/slide" Target="slides/slide1.xml"/><Relationship Id="rId11" Type="http://schemas.openxmlformats.org/officeDocument/2006/relationships/slideMaster" Target="slideMasters/slideMaster10.xml"/><Relationship Id="rId10" Type="http://schemas.openxmlformats.org/officeDocument/2006/relationships/slideMaster" Target="slideMasters/slideMaster9.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大家好，今天我将为大家汇报一项关于无脚本浏览器指纹识别技术的复现与分析工作。这项研究基于论文《Cascading Spy Sheets》，旨在深入探究现代CSS如何被滥用于构建用户指纹，即使在禁用JavaScript的情况下也能追踪用户。我们将一起看看这项技术的原理、实验过程以及我们的发现。</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次汇报将分为四个部分。首先，我会介绍项目的背景、动机和整体结构。接着，深入讲解CSS作为指纹来源的技术原理以及我们的实验设计。第三部分是本次汇报的重点，将详细展示五项核心实验的结果与分析。最后，我会总结我们的发现，并对未来的工作进行展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是我们项目的代码结构。核心逻辑都在`evaluation/browser/`目录下，这里包含了我们所有的实验页面和数据处理脚本。我们还准备了`pocs`目录用于攻击演示，以及`mitigation`目录来探索防御思路。大家可以看到，实验页面分工明确，分别对应不同的CSS指纹特征。</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服务端逻辑非常简洁，我们使用Python的Flask框架搭建了一个轻量级服务器。它的主要工作有两个：一是提供前端的实验页面，二是通过一个POST接口接收前端收集到的指纹数据，并按照特定的命名规则保存为JSON文件。这个命名规则包含了实验名、浏览器、操作系统等关键信息，为我们后续的数据分析提供了极大的便利。</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那么，CSS究竟是如何成为指纹来源的呢？核心思想在于，不同的浏览器和系统在处理CSS时，会产生微小的、可识别的差异。这种方法完全不需要JavaScript，因此能绕过很多安全设置。我们总结了五大类特征来源，包括CSS的数学计算、环境变量、默认样式、字体度量以及单位度量，这些都构成了我们实验的基础。</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是我们项目的代码结构。核心逻辑都在`evaluation/browser/`目录下，这里包含了我们所有的实验页面和数据处理脚本。我们还准备了`pocs`目录用于攻击演示，以及`mitigation`目录来探索防御思路。大家可以看到，实验页面分工明确，分别对应不同的CSS指纹特征。</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首先是calc实验。我们生成了一万个复杂的数学表达式，发现不同浏览器的计算结果存在显著差异。在超过9700个共同表达式中，有高达43%的结果在三款浏览器中不完全一致。特别是Firefox和Chrome/Edge之间，差异率超过40%。这证明了CSS的数值计算是一个非常有效的指纹特征。</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在完成了所有实验分析后，我们进入最后一部分：结论与展望。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接下来，我们进入第二部分，深入探讨这项技术的核心原理以及我们的实验设计方案。</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实验的执行流程非常清晰。我们首先启动本地服务器，然后在待测浏览器中访问相应的实验页面。页面会自动执行一系列CSS测试，然后通过一段JavaScript脚本（注意，这段JS仅用于收集结果，而非指纹本身）读取计算后的样式值，并将其上报给服务器。最后，服务器将这些数据保存下来，就完成了一次完整的实验。</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实验的执行流程非常清晰。我们首先启动本地服务器，然后在待测浏览器中访问相应的实验页面。页面会自动执行一系列CSS测试，然后通过一段JavaScript脚本（注意，这段JS仅用于收集结果，而非指纹本身）读取计算后的样式值，并将其上报给服务器。最后，服务器将这些数据保存下来，就完成了一次完整的实验。</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服务端逻辑非常简洁，我们使用Python的Flask框架搭建了一个轻量级服务器。它的主要工作有两个：一是提供前端的实验页面，二是通过一个POST接口接收前端收集到的指纹数据，并按照特定的命名规则保存为JSON文件。这个命名规则包含了实验名、浏览器、操作系统等关键信息，为我们后续的数据分析提供了极大的便利。</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现在，我们进入最核心的部分：实验结果的深度分析。我们将逐一展示五类实验的发现。</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服务端逻辑非常简洁，我们使用Python的Flask框架搭建了一个轻量级服务器。它的主要工作有两个：一是提供前端的实验页面，二是通过一个POST接口接收前端收集到的指纹数据，并按照特定的命名规则保存为JSON文件。这个命名规则包含了实验名、浏览器、操作系统等关键信息，为我们后续的数据分析提供了极大的便利。</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服务端逻辑非常简洁，我们使用Python的Flask框架搭建了一个轻量级服务器。它的主要工作有两个：一是提供前端的实验页面，二是通过一个POST接口接收前端收集到的指纹数据，并按照特定的命名规则保存为JSON文件。这个命名规则包含了实验名、浏览器、操作系统等关键信息，为我们后续的数据分析提供了极大的便利。</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服务端逻辑非常简洁，我们使用Python的Flask框架搭建了一个轻量级服务器。它的主要工作有两个：一是提供前端的实验页面，二是通过一个POST接口接收前端收集到的指纹数据，并按照特定的命名规则保存为JSON文件。这个命名规则包含了实验名、浏览器、操作系统等关键信息，为我们后续的数据分析提供了极大的便利。</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在完成了所有实验分析后，我们进入最后一部分：结论与展望。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最后，总结一下。我们的核心发现是，禁用JS远非万全之策，CSS本身就构成了严重的隐私威胁。其中，数值计算、默认样式和字体度量是三类最强的指纹。这给我们的启示是，隐私防护必须将CSS纳入视野，浏览器厂商也需要对此进行系统性加固。未来，我们计划在更多平台上进行测试，并探索更有效的缓解策略。</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我的汇报到此结束，感谢各位老师和同学的聆听。欢迎大家提问交流。</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1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15.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16.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17.xml"/></Relationships>
</file>

<file path=ppt/slideMasters/_rels/slideMaster8.xml.rels><?xml version="1.0" encoding="UTF-8" standalone="yes"?>
<Relationships xmlns="http://schemas.openxmlformats.org/package/2006/relationships"><Relationship Id="rId2" Type="http://schemas.openxmlformats.org/officeDocument/2006/relationships/theme" Target="../theme/theme8.xml"/><Relationship Id="rId1" Type="http://schemas.openxmlformats.org/officeDocument/2006/relationships/slideLayout" Target="../slideLayouts/slideLayout18.xml"/></Relationships>
</file>

<file path=ppt/slideMasters/_rels/slideMaster9.xml.rels><?xml version="1.0" encoding="UTF-8" standalone="yes"?>
<Relationships xmlns="http://schemas.openxmlformats.org/package/2006/relationships"><Relationship Id="rId2" Type="http://schemas.openxmlformats.org/officeDocument/2006/relationships/theme" Target="../theme/theme9.xml"/><Relationship Id="rId1" Type="http://schemas.openxmlformats.org/officeDocument/2006/relationships/slideLayout" Target="../slideLayouts/slideLayout19.xml"/></Relationships>
</file>

<file path=ppt/slideMasters/_rels/slideMaster10.xml.rels><?xml version="1.0" encoding="UTF-8" standalone="yes"?>
<Relationships xmlns="http://schemas.openxmlformats.org/package/2006/relationships"><Relationship Id="rId2" Type="http://schemas.openxmlformats.org/officeDocument/2006/relationships/theme" Target="../theme/theme10.xml"/><Relationship Id="rId1"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3"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7"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3"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7"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9" Type="http://schemas.openxmlformats.org/officeDocument/2006/relationships/notesSlide" Target="../notesSlides/notesSlide2.xml"/><Relationship Id="rId18" Type="http://schemas.openxmlformats.org/officeDocument/2006/relationships/slideLayout" Target="../slideLayouts/slideLayout12.xml"/><Relationship Id="rId17" Type="http://schemas.openxmlformats.org/officeDocument/2006/relationships/tags" Target="../tags/tag16.xml"/><Relationship Id="rId16" Type="http://schemas.openxmlformats.org/officeDocument/2006/relationships/tags" Target="../tags/tag15.xml"/><Relationship Id="rId15" Type="http://schemas.openxmlformats.org/officeDocument/2006/relationships/tags" Target="../tags/tag14.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2.xml"/><Relationship Id="rId2" Type="http://schemas.openxmlformats.org/officeDocument/2006/relationships/image" Target="../media/image3.png"/><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12.xml"/><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9" Type="http://schemas.openxmlformats.org/officeDocument/2006/relationships/tags" Target="../tags/tag22.xml"/><Relationship Id="rId8" Type="http://schemas.openxmlformats.org/officeDocument/2006/relationships/tags" Target="../tags/tag21.xml"/><Relationship Id="rId7" Type="http://schemas.openxmlformats.org/officeDocument/2006/relationships/tags" Target="../tags/tag20.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tags" Target="../tags/tag19.xml"/><Relationship Id="rId38" Type="http://schemas.openxmlformats.org/officeDocument/2006/relationships/notesSlide" Target="../notesSlides/notesSlide5.xml"/><Relationship Id="rId37" Type="http://schemas.openxmlformats.org/officeDocument/2006/relationships/slideLayout" Target="../slideLayouts/slideLayout15.xml"/><Relationship Id="rId36" Type="http://schemas.openxmlformats.org/officeDocument/2006/relationships/tags" Target="../tags/tag41.xml"/><Relationship Id="rId35" Type="http://schemas.openxmlformats.org/officeDocument/2006/relationships/tags" Target="../tags/tag40.xml"/><Relationship Id="rId34" Type="http://schemas.openxmlformats.org/officeDocument/2006/relationships/image" Target="../media/image15.svg"/><Relationship Id="rId33" Type="http://schemas.openxmlformats.org/officeDocument/2006/relationships/image" Target="../media/image14.png"/><Relationship Id="rId32" Type="http://schemas.openxmlformats.org/officeDocument/2006/relationships/tags" Target="../tags/tag39.xml"/><Relationship Id="rId31" Type="http://schemas.openxmlformats.org/officeDocument/2006/relationships/tags" Target="../tags/tag38.xml"/><Relationship Id="rId30" Type="http://schemas.openxmlformats.org/officeDocument/2006/relationships/tags" Target="../tags/tag37.xml"/><Relationship Id="rId3" Type="http://schemas.openxmlformats.org/officeDocument/2006/relationships/tags" Target="../tags/tag18.xml"/><Relationship Id="rId29" Type="http://schemas.openxmlformats.org/officeDocument/2006/relationships/tags" Target="../tags/tag36.xml"/><Relationship Id="rId28" Type="http://schemas.openxmlformats.org/officeDocument/2006/relationships/tags" Target="../tags/tag35.xml"/><Relationship Id="rId27" Type="http://schemas.openxmlformats.org/officeDocument/2006/relationships/image" Target="../media/image13.svg"/><Relationship Id="rId26" Type="http://schemas.openxmlformats.org/officeDocument/2006/relationships/image" Target="../media/image12.png"/><Relationship Id="rId25" Type="http://schemas.openxmlformats.org/officeDocument/2006/relationships/tags" Target="../tags/tag34.xml"/><Relationship Id="rId24" Type="http://schemas.openxmlformats.org/officeDocument/2006/relationships/tags" Target="../tags/tag33.xml"/><Relationship Id="rId23" Type="http://schemas.openxmlformats.org/officeDocument/2006/relationships/tags" Target="../tags/tag32.xml"/><Relationship Id="rId22" Type="http://schemas.openxmlformats.org/officeDocument/2006/relationships/tags" Target="../tags/tag31.xml"/><Relationship Id="rId21" Type="http://schemas.openxmlformats.org/officeDocument/2006/relationships/tags" Target="../tags/tag30.xml"/><Relationship Id="rId20" Type="http://schemas.openxmlformats.org/officeDocument/2006/relationships/image" Target="../media/image11.svg"/><Relationship Id="rId2" Type="http://schemas.openxmlformats.org/officeDocument/2006/relationships/tags" Target="../tags/tag17.xml"/><Relationship Id="rId19" Type="http://schemas.openxmlformats.org/officeDocument/2006/relationships/image" Target="../media/image10.png"/><Relationship Id="rId18" Type="http://schemas.openxmlformats.org/officeDocument/2006/relationships/tags" Target="../tags/tag29.xml"/><Relationship Id="rId17" Type="http://schemas.openxmlformats.org/officeDocument/2006/relationships/tags" Target="../tags/tag28.xml"/><Relationship Id="rId16" Type="http://schemas.openxmlformats.org/officeDocument/2006/relationships/tags" Target="../tags/tag27.xml"/><Relationship Id="rId15" Type="http://schemas.openxmlformats.org/officeDocument/2006/relationships/tags" Target="../tags/tag26.xml"/><Relationship Id="rId14" Type="http://schemas.openxmlformats.org/officeDocument/2006/relationships/tags" Target="../tags/tag25.xml"/><Relationship Id="rId13" Type="http://schemas.openxmlformats.org/officeDocument/2006/relationships/image" Target="../media/image9.svg"/><Relationship Id="rId12" Type="http://schemas.openxmlformats.org/officeDocument/2006/relationships/image" Target="../media/image8.png"/><Relationship Id="rId11" Type="http://schemas.openxmlformats.org/officeDocument/2006/relationships/tags" Target="../tags/tag24.xml"/><Relationship Id="rId10" Type="http://schemas.openxmlformats.org/officeDocument/2006/relationships/tags" Target="../tags/tag23.xml"/><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14.xml"/><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12.xml"/><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image" Target="../media/image2.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0.xml.rels><?xml version="1.0" encoding="UTF-8" standalone="yes"?>
<Relationships xmlns="http://schemas.openxmlformats.org/package/2006/relationships"><Relationship Id="rId9" Type="http://schemas.openxmlformats.org/officeDocument/2006/relationships/tags" Target="../tags/tag47.xml"/><Relationship Id="rId8" Type="http://schemas.openxmlformats.org/officeDocument/2006/relationships/tags" Target="../tags/tag46.xml"/><Relationship Id="rId7" Type="http://schemas.openxmlformats.org/officeDocument/2006/relationships/tags" Target="../tags/tag45.xml"/><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tags" Target="../tags/tag44.xml"/><Relationship Id="rId33" Type="http://schemas.openxmlformats.org/officeDocument/2006/relationships/notesSlide" Target="../notesSlides/notesSlide10.xml"/><Relationship Id="rId32" Type="http://schemas.openxmlformats.org/officeDocument/2006/relationships/slideLayout" Target="../slideLayouts/slideLayout12.xml"/><Relationship Id="rId31" Type="http://schemas.openxmlformats.org/officeDocument/2006/relationships/tags" Target="../tags/tag61.xml"/><Relationship Id="rId30" Type="http://schemas.openxmlformats.org/officeDocument/2006/relationships/image" Target="../media/image29.svg"/><Relationship Id="rId3" Type="http://schemas.openxmlformats.org/officeDocument/2006/relationships/tags" Target="../tags/tag43.xml"/><Relationship Id="rId29" Type="http://schemas.openxmlformats.org/officeDocument/2006/relationships/image" Target="../media/image28.png"/><Relationship Id="rId28" Type="http://schemas.openxmlformats.org/officeDocument/2006/relationships/tags" Target="../tags/tag60.xml"/><Relationship Id="rId27" Type="http://schemas.openxmlformats.org/officeDocument/2006/relationships/tags" Target="../tags/tag59.xml"/><Relationship Id="rId26" Type="http://schemas.openxmlformats.org/officeDocument/2006/relationships/tags" Target="../tags/tag58.xml"/><Relationship Id="rId25" Type="http://schemas.openxmlformats.org/officeDocument/2006/relationships/tags" Target="../tags/tag57.xml"/><Relationship Id="rId24" Type="http://schemas.openxmlformats.org/officeDocument/2006/relationships/image" Target="../media/image27.svg"/><Relationship Id="rId23" Type="http://schemas.openxmlformats.org/officeDocument/2006/relationships/image" Target="../media/image26.png"/><Relationship Id="rId22" Type="http://schemas.openxmlformats.org/officeDocument/2006/relationships/tags" Target="../tags/tag56.xml"/><Relationship Id="rId21" Type="http://schemas.openxmlformats.org/officeDocument/2006/relationships/tags" Target="../tags/tag55.xml"/><Relationship Id="rId20" Type="http://schemas.openxmlformats.org/officeDocument/2006/relationships/tags" Target="../tags/tag54.xml"/><Relationship Id="rId2" Type="http://schemas.openxmlformats.org/officeDocument/2006/relationships/tags" Target="../tags/tag42.xml"/><Relationship Id="rId19" Type="http://schemas.openxmlformats.org/officeDocument/2006/relationships/tags" Target="../tags/tag53.xml"/><Relationship Id="rId18" Type="http://schemas.openxmlformats.org/officeDocument/2006/relationships/image" Target="../media/image25.svg"/><Relationship Id="rId17" Type="http://schemas.openxmlformats.org/officeDocument/2006/relationships/image" Target="../media/image24.png"/><Relationship Id="rId16" Type="http://schemas.openxmlformats.org/officeDocument/2006/relationships/tags" Target="../tags/tag52.xml"/><Relationship Id="rId15" Type="http://schemas.openxmlformats.org/officeDocument/2006/relationships/tags" Target="../tags/tag51.xml"/><Relationship Id="rId14" Type="http://schemas.openxmlformats.org/officeDocument/2006/relationships/tags" Target="../tags/tag50.xml"/><Relationship Id="rId13" Type="http://schemas.openxmlformats.org/officeDocument/2006/relationships/tags" Target="../tags/tag49.xml"/><Relationship Id="rId12" Type="http://schemas.openxmlformats.org/officeDocument/2006/relationships/image" Target="../media/image23.svg"/><Relationship Id="rId11" Type="http://schemas.openxmlformats.org/officeDocument/2006/relationships/image" Target="../media/image22.png"/><Relationship Id="rId10" Type="http://schemas.openxmlformats.org/officeDocument/2006/relationships/tags" Target="../tags/tag48.xml"/><Relationship Id="rId1" Type="http://schemas.openxmlformats.org/officeDocument/2006/relationships/image" Target="../media/image2.jpeg"/></Relationships>
</file>

<file path=ppt/slides/_rels/slide11.xml.rels><?xml version="1.0" encoding="UTF-8" standalone="yes"?>
<Relationships xmlns="http://schemas.openxmlformats.org/package/2006/relationships"><Relationship Id="rId9" Type="http://schemas.openxmlformats.org/officeDocument/2006/relationships/tags" Target="../tags/tag67.xml"/><Relationship Id="rId8" Type="http://schemas.openxmlformats.org/officeDocument/2006/relationships/tags" Target="../tags/tag66.xml"/><Relationship Id="rId7" Type="http://schemas.openxmlformats.org/officeDocument/2006/relationships/tags" Target="../tags/tag65.xml"/><Relationship Id="rId6" Type="http://schemas.openxmlformats.org/officeDocument/2006/relationships/image" Target="../media/image21.svg"/><Relationship Id="rId5" Type="http://schemas.openxmlformats.org/officeDocument/2006/relationships/image" Target="../media/image20.png"/><Relationship Id="rId45" Type="http://schemas.openxmlformats.org/officeDocument/2006/relationships/notesSlide" Target="../notesSlides/notesSlide11.xml"/><Relationship Id="rId44" Type="http://schemas.openxmlformats.org/officeDocument/2006/relationships/slideLayout" Target="../slideLayouts/slideLayout16.xml"/><Relationship Id="rId43" Type="http://schemas.openxmlformats.org/officeDocument/2006/relationships/tags" Target="../tags/tag89.xml"/><Relationship Id="rId42" Type="http://schemas.openxmlformats.org/officeDocument/2006/relationships/image" Target="../media/image33.svg"/><Relationship Id="rId41" Type="http://schemas.openxmlformats.org/officeDocument/2006/relationships/image" Target="../media/image32.png"/><Relationship Id="rId40" Type="http://schemas.openxmlformats.org/officeDocument/2006/relationships/tags" Target="../tags/tag88.xml"/><Relationship Id="rId4" Type="http://schemas.openxmlformats.org/officeDocument/2006/relationships/tags" Target="../tags/tag64.xml"/><Relationship Id="rId39" Type="http://schemas.openxmlformats.org/officeDocument/2006/relationships/tags" Target="../tags/tag87.xml"/><Relationship Id="rId38" Type="http://schemas.openxmlformats.org/officeDocument/2006/relationships/tags" Target="../tags/tag86.xml"/><Relationship Id="rId37" Type="http://schemas.openxmlformats.org/officeDocument/2006/relationships/tags" Target="../tags/tag85.xml"/><Relationship Id="rId36" Type="http://schemas.openxmlformats.org/officeDocument/2006/relationships/image" Target="../media/image31.svg"/><Relationship Id="rId35" Type="http://schemas.openxmlformats.org/officeDocument/2006/relationships/image" Target="../media/image30.png"/><Relationship Id="rId34" Type="http://schemas.openxmlformats.org/officeDocument/2006/relationships/tags" Target="../tags/tag84.xml"/><Relationship Id="rId33" Type="http://schemas.openxmlformats.org/officeDocument/2006/relationships/tags" Target="../tags/tag83.xml"/><Relationship Id="rId32" Type="http://schemas.openxmlformats.org/officeDocument/2006/relationships/tags" Target="../tags/tag82.xml"/><Relationship Id="rId31" Type="http://schemas.openxmlformats.org/officeDocument/2006/relationships/tags" Target="../tags/tag81.xml"/><Relationship Id="rId30" Type="http://schemas.openxmlformats.org/officeDocument/2006/relationships/image" Target="../media/image29.svg"/><Relationship Id="rId3" Type="http://schemas.openxmlformats.org/officeDocument/2006/relationships/tags" Target="../tags/tag63.xml"/><Relationship Id="rId29" Type="http://schemas.openxmlformats.org/officeDocument/2006/relationships/image" Target="../media/image28.png"/><Relationship Id="rId28" Type="http://schemas.openxmlformats.org/officeDocument/2006/relationships/tags" Target="../tags/tag80.xml"/><Relationship Id="rId27" Type="http://schemas.openxmlformats.org/officeDocument/2006/relationships/tags" Target="../tags/tag79.xml"/><Relationship Id="rId26" Type="http://schemas.openxmlformats.org/officeDocument/2006/relationships/tags" Target="../tags/tag78.xml"/><Relationship Id="rId25" Type="http://schemas.openxmlformats.org/officeDocument/2006/relationships/tags" Target="../tags/tag77.xml"/><Relationship Id="rId24" Type="http://schemas.openxmlformats.org/officeDocument/2006/relationships/image" Target="../media/image27.svg"/><Relationship Id="rId23" Type="http://schemas.openxmlformats.org/officeDocument/2006/relationships/image" Target="../media/image26.png"/><Relationship Id="rId22" Type="http://schemas.openxmlformats.org/officeDocument/2006/relationships/tags" Target="../tags/tag76.xml"/><Relationship Id="rId21" Type="http://schemas.openxmlformats.org/officeDocument/2006/relationships/tags" Target="../tags/tag75.xml"/><Relationship Id="rId20" Type="http://schemas.openxmlformats.org/officeDocument/2006/relationships/tags" Target="../tags/tag74.xml"/><Relationship Id="rId2" Type="http://schemas.openxmlformats.org/officeDocument/2006/relationships/tags" Target="../tags/tag62.xml"/><Relationship Id="rId19" Type="http://schemas.openxmlformats.org/officeDocument/2006/relationships/tags" Target="../tags/tag73.xml"/><Relationship Id="rId18" Type="http://schemas.openxmlformats.org/officeDocument/2006/relationships/image" Target="../media/image25.svg"/><Relationship Id="rId17" Type="http://schemas.openxmlformats.org/officeDocument/2006/relationships/image" Target="../media/image24.png"/><Relationship Id="rId16" Type="http://schemas.openxmlformats.org/officeDocument/2006/relationships/tags" Target="../tags/tag72.xml"/><Relationship Id="rId15" Type="http://schemas.openxmlformats.org/officeDocument/2006/relationships/tags" Target="../tags/tag71.xml"/><Relationship Id="rId14" Type="http://schemas.openxmlformats.org/officeDocument/2006/relationships/tags" Target="../tags/tag70.xml"/><Relationship Id="rId13" Type="http://schemas.openxmlformats.org/officeDocument/2006/relationships/tags" Target="../tags/tag69.xml"/><Relationship Id="rId12" Type="http://schemas.openxmlformats.org/officeDocument/2006/relationships/image" Target="../media/image23.svg"/><Relationship Id="rId11" Type="http://schemas.openxmlformats.org/officeDocument/2006/relationships/image" Target="../media/image22.png"/><Relationship Id="rId10" Type="http://schemas.openxmlformats.org/officeDocument/2006/relationships/tags" Target="../tags/tag68.xml"/><Relationship Id="rId1" Type="http://schemas.openxmlformats.org/officeDocument/2006/relationships/image" Target="../media/image2.jpe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17.xml"/><Relationship Id="rId2" Type="http://schemas.openxmlformats.org/officeDocument/2006/relationships/image" Target="../media/image34.png"/><Relationship Id="rId1" Type="http://schemas.openxmlformats.org/officeDocument/2006/relationships/image" Target="../media/image2.jpe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18.xml"/><Relationship Id="rId2" Type="http://schemas.openxmlformats.org/officeDocument/2006/relationships/image" Target="../media/image35.png"/><Relationship Id="rId1" Type="http://schemas.openxmlformats.org/officeDocument/2006/relationships/image" Target="../media/image2.jpeg"/></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15.xml"/><Relationship Id="rId4" Type="http://schemas.openxmlformats.org/officeDocument/2006/relationships/slideLayout" Target="../slideLayouts/slideLayout19.xml"/><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image" Target="../media/image2.jpeg"/></Relationships>
</file>

<file path=ppt/slides/_rels/slide16.xml.rels><?xml version="1.0" encoding="UTF-8" standalone="yes"?>
<Relationships xmlns="http://schemas.openxmlformats.org/package/2006/relationships"><Relationship Id="rId6" Type="http://schemas.openxmlformats.org/officeDocument/2006/relationships/notesSlide" Target="../notesSlides/notesSlide16.xml"/><Relationship Id="rId5" Type="http://schemas.openxmlformats.org/officeDocument/2006/relationships/slideLayout" Target="../slideLayouts/slideLayout20.xml"/><Relationship Id="rId4" Type="http://schemas.openxmlformats.org/officeDocument/2006/relationships/image" Target="../media/image40.png"/><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image" Target="../media/image2.jpe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3.xml"/><Relationship Id="rId1" Type="http://schemas.openxmlformats.org/officeDocument/2006/relationships/image" Target="../media/image2.jpeg"/></Relationships>
</file>

<file path=ppt/slides/_rels/slide18.xml.rels><?xml version="1.0" encoding="UTF-8" standalone="yes"?>
<Relationships xmlns="http://schemas.openxmlformats.org/package/2006/relationships"><Relationship Id="rId9" Type="http://schemas.openxmlformats.org/officeDocument/2006/relationships/tags" Target="../tags/tag95.xml"/><Relationship Id="rId8" Type="http://schemas.openxmlformats.org/officeDocument/2006/relationships/tags" Target="../tags/tag94.xml"/><Relationship Id="rId7" Type="http://schemas.openxmlformats.org/officeDocument/2006/relationships/tags" Target="../tags/tag93.xml"/><Relationship Id="rId6" Type="http://schemas.openxmlformats.org/officeDocument/2006/relationships/tags" Target="../tags/tag92.xml"/><Relationship Id="rId5" Type="http://schemas.openxmlformats.org/officeDocument/2006/relationships/image" Target="../media/image42.svg"/><Relationship Id="rId4" Type="http://schemas.openxmlformats.org/officeDocument/2006/relationships/image" Target="../media/image41.png"/><Relationship Id="rId3" Type="http://schemas.openxmlformats.org/officeDocument/2006/relationships/tags" Target="../tags/tag91.xml"/><Relationship Id="rId24" Type="http://schemas.openxmlformats.org/officeDocument/2006/relationships/notesSlide" Target="../notesSlides/notesSlide18.xml"/><Relationship Id="rId23" Type="http://schemas.openxmlformats.org/officeDocument/2006/relationships/slideLayout" Target="../slideLayouts/slideLayout12.xml"/><Relationship Id="rId22" Type="http://schemas.openxmlformats.org/officeDocument/2006/relationships/tags" Target="../tags/tag104.xml"/><Relationship Id="rId21" Type="http://schemas.openxmlformats.org/officeDocument/2006/relationships/tags" Target="../tags/tag103.xml"/><Relationship Id="rId20" Type="http://schemas.openxmlformats.org/officeDocument/2006/relationships/tags" Target="../tags/tag102.xml"/><Relationship Id="rId2" Type="http://schemas.openxmlformats.org/officeDocument/2006/relationships/tags" Target="../tags/tag90.xml"/><Relationship Id="rId19" Type="http://schemas.openxmlformats.org/officeDocument/2006/relationships/image" Target="../media/image46.svg"/><Relationship Id="rId18" Type="http://schemas.openxmlformats.org/officeDocument/2006/relationships/image" Target="../media/image45.png"/><Relationship Id="rId17" Type="http://schemas.openxmlformats.org/officeDocument/2006/relationships/tags" Target="../tags/tag101.xml"/><Relationship Id="rId16" Type="http://schemas.openxmlformats.org/officeDocument/2006/relationships/tags" Target="../tags/tag100.xml"/><Relationship Id="rId15" Type="http://schemas.openxmlformats.org/officeDocument/2006/relationships/tags" Target="../tags/tag99.xml"/><Relationship Id="rId14" Type="http://schemas.openxmlformats.org/officeDocument/2006/relationships/tags" Target="../tags/tag98.xml"/><Relationship Id="rId13" Type="http://schemas.openxmlformats.org/officeDocument/2006/relationships/tags" Target="../tags/tag97.xml"/><Relationship Id="rId12" Type="http://schemas.openxmlformats.org/officeDocument/2006/relationships/image" Target="../media/image44.svg"/><Relationship Id="rId11" Type="http://schemas.openxmlformats.org/officeDocument/2006/relationships/image" Target="../media/image43.png"/><Relationship Id="rId10" Type="http://schemas.openxmlformats.org/officeDocument/2006/relationships/tags" Target="../tags/tag96.xml"/><Relationship Id="rId1" Type="http://schemas.openxmlformats.org/officeDocument/2006/relationships/image" Target="../media/image2.jpe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2.xml"/><Relationship Id="rId1" Type="http://schemas.openxmlformats.org/officeDocument/2006/relationships/image" Target="../media/image47.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cap="flat" cmpd="sng">
            <a:solidFill>
              <a:srgbClr val="000000">
                <a:alpha val="30000"/>
              </a:srgbClr>
            </a:solidFill>
            <a:prstDash val="solid"/>
            <a:round/>
          </a:ln>
        </p:spPr>
        <p:txBody>
          <a:bodyPr vert="horz" wrap="square" lIns="63500" tIns="63500" rIns="63500" bIns="63500" rtlCol="0" anchor="ctr"/>
          <a:lstStyle/>
          <a:p>
            <a:pPr algn="ctr">
              <a:defRPr/>
            </a:pPr>
          </a:p>
        </p:txBody>
      </p:sp>
      <p:sp>
        <p:nvSpPr>
          <p:cNvPr id="3" name="AutoShape 3"/>
          <p:cNvSpPr/>
          <p:nvPr/>
        </p:nvSpPr>
        <p:spPr>
          <a:xfrm>
            <a:off x="762000" y="1905000"/>
            <a:ext cx="10668000" cy="203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4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基于《Cascading Spy Sheets》的无脚本浏览器指纹识别</a:t>
            </a:r>
            <a:r>
              <a:rPr lang="zh-CN" altLang="en-US" sz="4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系统测试</a:t>
            </a:r>
            <a:r>
              <a:rPr lang="en-US" sz="4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endParaRPr lang="en-US" sz="4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0000"/>
              </a:lnSpc>
              <a:defRPr/>
            </a:pPr>
            <a:r>
              <a:rPr lang="en-US" sz="1100"/>
              <a:t> </a:t>
            </a:r>
            <a:endParaRPr lang="en-US" sz="1100"/>
          </a:p>
          <a:p>
            <a:pPr marL="3657600" lvl="8" indent="457200" algn="l">
              <a:lnSpc>
                <a:spcPct val="100000"/>
              </a:lnSpc>
              <a:defRPr/>
            </a:pPr>
            <a:r>
              <a:rPr lang="en-US" sz="4800" b="1">
                <a:solidFill>
                  <a:srgbClr val="FFFFFF"/>
                </a:solidFill>
                <a:latin typeface="Noto Sans SC" panose="020B0200000000000000" charset="-122"/>
                <a:ea typeface="Noto Sans SC" panose="020B0200000000000000" charset="-122"/>
                <a:cs typeface="Noto Sans SC" panose="020B0200000000000000" charset="-122"/>
              </a:rPr>
              <a:t>                         </a:t>
            </a:r>
            <a:r>
              <a:rPr lang="en-US" sz="3200" b="1">
                <a:solidFill>
                  <a:srgbClr val="FFFFFF"/>
                </a:solidFill>
                <a:latin typeface="Noto Sans SC" panose="020B0200000000000000" charset="-122"/>
                <a:ea typeface="Noto Sans SC" panose="020B0200000000000000" charset="-122"/>
                <a:cs typeface="Noto Sans SC" panose="020B0200000000000000" charset="-122"/>
              </a:rPr>
              <a:t>——NDSS2025</a:t>
            </a:r>
            <a:endParaRPr lang="en-US" sz="3200" b="1">
              <a:solidFill>
                <a:srgbClr val="FFFFFF"/>
              </a:solidFill>
              <a:latin typeface="Noto Sans SC" panose="020B0200000000000000" charset="-122"/>
              <a:ea typeface="Noto Sans SC" panose="020B0200000000000000" charset="-122"/>
              <a:cs typeface="Noto Sans SC" panose="020B0200000000000000" charset="-122"/>
            </a:endParaRPr>
          </a:p>
        </p:txBody>
      </p:sp>
      <p:sp>
        <p:nvSpPr>
          <p:cNvPr id="4" name="AutoShape 4"/>
          <p:cNvSpPr/>
          <p:nvPr/>
        </p:nvSpPr>
        <p:spPr>
          <a:xfrm>
            <a:off x="659130" y="447929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2400" b="0"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原神兴趣小组</a:t>
            </a:r>
            <a:r>
              <a:rPr lang="en-US" altLang="zh-CN" sz="2400" b="0"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zh-CN" altLang="en-US" sz="2400">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ppt制作: 刘修远</a:t>
            </a:r>
            <a:endParaRPr lang="zh-CN" altLang="en-US" sz="2400" b="0"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endParaRPr lang="zh-CN" altLang="en-US" sz="2400" b="0"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5" name="AutoShape 5"/>
          <p:cNvSpPr/>
          <p:nvPr/>
        </p:nvSpPr>
        <p:spPr>
          <a:xfrm>
            <a:off x="762000" y="5397500"/>
            <a:ext cx="10668000" cy="889000"/>
          </a:xfrm>
          <a:prstGeom prst="roundRect">
            <a:avLst>
              <a:gd name="adj" fmla="val 0"/>
            </a:avLst>
          </a:prstGeom>
          <a:solidFill>
            <a:srgbClr val="FFFFFF">
              <a:alpha val="10000"/>
            </a:srgbClr>
          </a:solidFill>
          <a:ln w="12700" cap="flat" cmpd="sng">
            <a:solidFill>
              <a:srgbClr val="34D399">
                <a:alpha val="4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1016000" y="5613400"/>
            <a:ext cx="1016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汇报人：李</a:t>
            </a:r>
            <a:r>
              <a:rPr lang="zh-CN" altLang="en-US" sz="18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梓豪</a:t>
            </a:r>
            <a:r>
              <a:rPr lang="en-US" sz="18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endParaRPr lang="zh-CN" altLang="en-US" sz="18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目录</a:t>
            </a:r>
            <a:endParaRPr lang="en-US" sz="1100"/>
          </a:p>
        </p:txBody>
      </p:sp>
      <p:sp>
        <p:nvSpPr>
          <p:cNvPr id="4" name="AutoShape 4"/>
          <p:cNvSpPr/>
          <p:nvPr>
            <p:custDataLst>
              <p:tags r:id="rId2"/>
            </p:custDataLst>
          </p:nvPr>
        </p:nvSpPr>
        <p:spPr>
          <a:xfrm>
            <a:off x="762000" y="1778000"/>
            <a:ext cx="5207000" cy="1968500"/>
          </a:xfrm>
          <a:prstGeom prst="roundRect">
            <a:avLst>
              <a:gd name="adj" fmla="val 0"/>
            </a:avLst>
          </a:prstGeom>
          <a:solidFill>
            <a:srgbClr val="FFFFFF">
              <a:alpha val="8000"/>
            </a:srgbClr>
          </a:solidFill>
          <a:ln w="12700" cap="flat" cmpd="sng">
            <a:solidFill>
              <a:srgbClr val="34D399">
                <a:alpha val="25000"/>
              </a:srgbClr>
            </a:solidFill>
            <a:prstDash val="solid"/>
            <a:round/>
          </a:ln>
        </p:spPr>
        <p:txBody>
          <a:bodyPr vert="horz" wrap="square" lIns="63500" tIns="63500" rIns="63500" bIns="63500" rtlCol="0" anchor="ctr"/>
          <a:lstStyle/>
          <a:p>
            <a:pPr algn="ctr">
              <a:defRPr/>
            </a:pPr>
          </a:p>
        </p:txBody>
      </p:sp>
      <p:sp>
        <p:nvSpPr>
          <p:cNvPr id="5" name="AutoShape 5"/>
          <p:cNvSpPr/>
          <p:nvPr>
            <p:custDataLst>
              <p:tags r:id="rId3"/>
            </p:custDataLst>
          </p:nvPr>
        </p:nvSpPr>
        <p:spPr>
          <a:xfrm>
            <a:off x="1016000" y="1968500"/>
            <a:ext cx="76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endParaRPr lang="en-US" sz="1100"/>
          </a:p>
        </p:txBody>
      </p:sp>
      <p:sp>
        <p:nvSpPr>
          <p:cNvPr id="6" name="AutoShape 6"/>
          <p:cNvSpPr/>
          <p:nvPr>
            <p:custDataLst>
              <p:tags r:id="rId4"/>
            </p:custDataLst>
          </p:nvPr>
        </p:nvSpPr>
        <p:spPr>
          <a:xfrm>
            <a:off x="1905000" y="2032000"/>
            <a:ext cx="381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被测对象</a:t>
            </a:r>
            <a:r>
              <a:rPr lang="zh-CN" alt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核心功能</a:t>
            </a:r>
            <a:endParaRPr lang="zh-CN" alt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AutoShape 7"/>
          <p:cNvSpPr/>
          <p:nvPr>
            <p:custDataLst>
              <p:tags r:id="rId5"/>
            </p:custDataLst>
          </p:nvPr>
        </p:nvSpPr>
        <p:spPr>
          <a:xfrm>
            <a:off x="1016000" y="2667000"/>
            <a:ext cx="4699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2000" b="0" i="0" u="none" strike="noStrike">
                <a:solidFill>
                  <a:srgbClr val="D1D5D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解析项目整体架构与核心服务端逻辑</a:t>
            </a:r>
            <a:endParaRPr lang="en-US" sz="2000"/>
          </a:p>
        </p:txBody>
      </p:sp>
      <p:sp>
        <p:nvSpPr>
          <p:cNvPr id="8" name="AutoShape 8"/>
          <p:cNvSpPr/>
          <p:nvPr>
            <p:custDataLst>
              <p:tags r:id="rId6"/>
            </p:custDataLst>
          </p:nvPr>
        </p:nvSpPr>
        <p:spPr>
          <a:xfrm>
            <a:off x="6223000" y="1778000"/>
            <a:ext cx="5207000" cy="1968500"/>
          </a:xfrm>
          <a:prstGeom prst="roundRect">
            <a:avLst>
              <a:gd name="adj" fmla="val 0"/>
            </a:avLst>
          </a:prstGeom>
          <a:solidFill>
            <a:srgbClr val="FFFFFF">
              <a:alpha val="8000"/>
            </a:srgbClr>
          </a:solidFill>
          <a:ln w="12700" cap="flat" cmpd="sng">
            <a:solidFill>
              <a:srgbClr val="34D399">
                <a:alpha val="25000"/>
              </a:srgbClr>
            </a:solidFill>
            <a:prstDash val="solid"/>
            <a:round/>
          </a:ln>
        </p:spPr>
        <p:txBody>
          <a:bodyPr vert="horz" wrap="square" lIns="63500" tIns="63500" rIns="63500" bIns="63500" rtlCol="0" anchor="ctr"/>
          <a:lstStyle/>
          <a:p>
            <a:pPr algn="ctr">
              <a:defRPr/>
            </a:pPr>
          </a:p>
        </p:txBody>
      </p:sp>
      <p:sp>
        <p:nvSpPr>
          <p:cNvPr id="9" name="AutoShape 9"/>
          <p:cNvSpPr/>
          <p:nvPr>
            <p:custDataLst>
              <p:tags r:id="rId7"/>
            </p:custDataLst>
          </p:nvPr>
        </p:nvSpPr>
        <p:spPr>
          <a:xfrm>
            <a:off x="6477000" y="1968500"/>
            <a:ext cx="76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endParaRPr lang="en-US" sz="1100"/>
          </a:p>
        </p:txBody>
      </p:sp>
      <p:sp>
        <p:nvSpPr>
          <p:cNvPr id="10" name="AutoShape 10"/>
          <p:cNvSpPr/>
          <p:nvPr>
            <p:custDataLst>
              <p:tags r:id="rId8"/>
            </p:custDataLst>
          </p:nvPr>
        </p:nvSpPr>
        <p:spPr>
          <a:xfrm>
            <a:off x="7366000" y="2032000"/>
            <a:ext cx="381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800" b="1">
                <a:solidFill>
                  <a:srgbClr val="FFFFFF"/>
                </a:solidFill>
                <a:latin typeface="Noto Sans SC" panose="020B0200000000000000" charset="-122"/>
                <a:ea typeface="Noto Sans SC" panose="020B0200000000000000" charset="-122"/>
                <a:cs typeface="Noto Sans SC" panose="020B0200000000000000" charset="-122"/>
              </a:rPr>
              <a:t>主要测试策略</a:t>
            </a:r>
            <a:endParaRPr lang="zh-CN" altLang="en-US" sz="1800" b="1">
              <a:solidFill>
                <a:srgbClr val="FFFFFF"/>
              </a:solidFill>
              <a:latin typeface="Noto Sans SC" panose="020B0200000000000000" charset="-122"/>
              <a:ea typeface="Noto Sans SC" panose="020B0200000000000000" charset="-122"/>
              <a:cs typeface="Noto Sans SC" panose="020B0200000000000000" charset="-122"/>
            </a:endParaRPr>
          </a:p>
        </p:txBody>
      </p:sp>
      <p:sp>
        <p:nvSpPr>
          <p:cNvPr id="11" name="AutoShape 11"/>
          <p:cNvSpPr/>
          <p:nvPr>
            <p:custDataLst>
              <p:tags r:id="rId9"/>
            </p:custDataLst>
          </p:nvPr>
        </p:nvSpPr>
        <p:spPr>
          <a:xfrm>
            <a:off x="6477000" y="2667000"/>
            <a:ext cx="4699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2000" b="0" i="0" u="none" strike="noStrike">
                <a:solidFill>
                  <a:srgbClr val="D1D5D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搭建标准化的实验环境，制定严谨的实验流程与数据采集方法，确保结果的可靠性。</a:t>
            </a:r>
            <a:endParaRPr lang="en-US" sz="2000" b="0" i="0" u="none" strike="noStrike">
              <a:solidFill>
                <a:srgbClr val="D1D5D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2" name="AutoShape 12"/>
          <p:cNvSpPr/>
          <p:nvPr>
            <p:custDataLst>
              <p:tags r:id="rId10"/>
            </p:custDataLst>
          </p:nvPr>
        </p:nvSpPr>
        <p:spPr>
          <a:xfrm>
            <a:off x="762000" y="4000500"/>
            <a:ext cx="5207000" cy="1968500"/>
          </a:xfrm>
          <a:prstGeom prst="roundRect">
            <a:avLst>
              <a:gd name="adj" fmla="val 0"/>
            </a:avLst>
          </a:prstGeom>
          <a:solidFill>
            <a:srgbClr val="FFFFFF">
              <a:alpha val="8000"/>
            </a:srgbClr>
          </a:solidFill>
          <a:ln w="12700" cap="flat" cmpd="sng">
            <a:solidFill>
              <a:srgbClr val="34D399">
                <a:alpha val="25000"/>
              </a:srgbClr>
            </a:solidFill>
            <a:prstDash val="solid"/>
            <a:round/>
          </a:ln>
        </p:spPr>
        <p:txBody>
          <a:bodyPr vert="horz" wrap="square" lIns="63500" tIns="63500" rIns="63500" bIns="63500" rtlCol="0" anchor="ctr"/>
          <a:lstStyle/>
          <a:p>
            <a:pPr algn="ctr">
              <a:defRPr/>
            </a:pPr>
          </a:p>
        </p:txBody>
      </p:sp>
      <p:sp>
        <p:nvSpPr>
          <p:cNvPr id="13" name="AutoShape 13"/>
          <p:cNvSpPr/>
          <p:nvPr>
            <p:custDataLst>
              <p:tags r:id="rId11"/>
            </p:custDataLst>
          </p:nvPr>
        </p:nvSpPr>
        <p:spPr>
          <a:xfrm>
            <a:off x="1016000" y="4191000"/>
            <a:ext cx="76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endParaRPr lang="en-US" sz="1100"/>
          </a:p>
        </p:txBody>
      </p:sp>
      <p:sp>
        <p:nvSpPr>
          <p:cNvPr id="14" name="AutoShape 14"/>
          <p:cNvSpPr/>
          <p:nvPr>
            <p:custDataLst>
              <p:tags r:id="rId12"/>
            </p:custDataLst>
          </p:nvPr>
        </p:nvSpPr>
        <p:spPr>
          <a:xfrm>
            <a:off x="1905000" y="4254500"/>
            <a:ext cx="381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800" b="1">
                <a:solidFill>
                  <a:srgbClr val="FFFFFF"/>
                </a:solidFill>
                <a:latin typeface="Noto Sans SC" panose="020B0200000000000000" charset="-122"/>
                <a:ea typeface="Noto Sans SC" panose="020B0200000000000000" charset="-122"/>
                <a:cs typeface="Noto Sans SC" panose="020B0200000000000000" charset="-122"/>
              </a:rPr>
              <a:t>自动化测试设计与实施</a:t>
            </a:r>
            <a:endParaRPr lang="zh-CN" altLang="en-US" sz="1800" b="1">
              <a:solidFill>
                <a:srgbClr val="FFFFFF"/>
              </a:solidFill>
              <a:latin typeface="Noto Sans SC" panose="020B0200000000000000" charset="-122"/>
              <a:ea typeface="Noto Sans SC" panose="020B0200000000000000" charset="-122"/>
              <a:cs typeface="Noto Sans SC" panose="020B0200000000000000" charset="-122"/>
            </a:endParaRPr>
          </a:p>
        </p:txBody>
      </p:sp>
      <p:sp>
        <p:nvSpPr>
          <p:cNvPr id="15" name="AutoShape 15"/>
          <p:cNvSpPr/>
          <p:nvPr>
            <p:custDataLst>
              <p:tags r:id="rId13"/>
            </p:custDataLst>
          </p:nvPr>
        </p:nvSpPr>
        <p:spPr>
          <a:xfrm>
            <a:off x="1016000" y="4889500"/>
            <a:ext cx="4699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2000" b="0" i="0" u="none" strike="noStrike">
                <a:solidFill>
                  <a:srgbClr val="D1D5D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全面</a:t>
            </a:r>
            <a:r>
              <a:rPr lang="zh-CN" altLang="en-US" sz="2000" b="0" i="0" u="none" strike="noStrike">
                <a:solidFill>
                  <a:srgbClr val="D1D5D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测试</a:t>
            </a:r>
            <a:r>
              <a:rPr lang="en-US" sz="2000" b="0" i="0" u="none" strike="noStrike">
                <a:solidFill>
                  <a:srgbClr val="D1D5D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calc、env、valuecontainer等五大核心实验的</a:t>
            </a:r>
            <a:r>
              <a:rPr lang="zh-CN" altLang="en-US" sz="2000" b="0" i="0" u="none" strike="noStrike">
                <a:solidFill>
                  <a:srgbClr val="D1D5D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功能</a:t>
            </a:r>
            <a:endParaRPr lang="en-US" sz="1100"/>
          </a:p>
        </p:txBody>
      </p:sp>
      <p:sp>
        <p:nvSpPr>
          <p:cNvPr id="16" name="AutoShape 16"/>
          <p:cNvSpPr/>
          <p:nvPr>
            <p:custDataLst>
              <p:tags r:id="rId14"/>
            </p:custDataLst>
          </p:nvPr>
        </p:nvSpPr>
        <p:spPr>
          <a:xfrm>
            <a:off x="6223000" y="4000500"/>
            <a:ext cx="5207000" cy="1968500"/>
          </a:xfrm>
          <a:prstGeom prst="roundRect">
            <a:avLst>
              <a:gd name="adj" fmla="val 0"/>
            </a:avLst>
          </a:prstGeom>
          <a:solidFill>
            <a:srgbClr val="FFFFFF">
              <a:alpha val="8000"/>
            </a:srgbClr>
          </a:solidFill>
          <a:ln w="12700" cap="flat" cmpd="sng">
            <a:solidFill>
              <a:srgbClr val="34D399">
                <a:alpha val="25000"/>
              </a:srgbClr>
            </a:solidFill>
            <a:prstDash val="solid"/>
            <a:round/>
          </a:ln>
        </p:spPr>
        <p:txBody>
          <a:bodyPr vert="horz" wrap="square" lIns="63500" tIns="63500" rIns="63500" bIns="63500" rtlCol="0" anchor="ctr"/>
          <a:lstStyle/>
          <a:p>
            <a:pPr algn="ctr">
              <a:defRPr/>
            </a:pPr>
          </a:p>
        </p:txBody>
      </p:sp>
      <p:sp>
        <p:nvSpPr>
          <p:cNvPr id="17" name="AutoShape 17"/>
          <p:cNvSpPr/>
          <p:nvPr>
            <p:custDataLst>
              <p:tags r:id="rId15"/>
            </p:custDataLst>
          </p:nvPr>
        </p:nvSpPr>
        <p:spPr>
          <a:xfrm>
            <a:off x="6477000" y="4191000"/>
            <a:ext cx="76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04</a:t>
            </a:r>
            <a:endParaRPr lang="en-US" sz="1100"/>
          </a:p>
        </p:txBody>
      </p:sp>
      <p:sp>
        <p:nvSpPr>
          <p:cNvPr id="18" name="AutoShape 18"/>
          <p:cNvSpPr/>
          <p:nvPr>
            <p:custDataLst>
              <p:tags r:id="rId16"/>
            </p:custDataLst>
          </p:nvPr>
        </p:nvSpPr>
        <p:spPr>
          <a:xfrm>
            <a:off x="7366000" y="4254500"/>
            <a:ext cx="381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测试结论</a:t>
            </a:r>
            <a:endParaRPr lang="zh-CN" alt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9" name="AutoShape 19"/>
          <p:cNvSpPr/>
          <p:nvPr>
            <p:custDataLst>
              <p:tags r:id="rId17"/>
            </p:custDataLst>
          </p:nvPr>
        </p:nvSpPr>
        <p:spPr>
          <a:xfrm>
            <a:off x="6477000" y="4889500"/>
            <a:ext cx="4699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zh-CN" altLang="en-US" sz="2000" b="0" i="0" u="none" strike="noStrike">
                <a:solidFill>
                  <a:srgbClr val="D1D5D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总结测试结果并产出软件质量报告</a:t>
            </a:r>
            <a:endParaRPr lang="zh-CN" altLang="en-US" sz="2000" b="0" i="0" u="none" strike="noStrike">
              <a:solidFill>
                <a:srgbClr val="D1D5D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01 项目代码结构概览</a:t>
            </a:r>
            <a:endParaRPr lang="en-US" sz="1100"/>
          </a:p>
        </p:txBody>
      </p:sp>
      <p:cxnSp>
        <p:nvCxnSpPr>
          <p:cNvPr id="8" name="Connector 8"/>
          <p:cNvCxnSpPr/>
          <p:nvPr/>
        </p:nvCxnSpPr>
        <p:spPr>
          <a:xfrm rot="5371352">
            <a:off x="6731000" y="2597176"/>
            <a:ext cx="1524000" cy="12700"/>
          </a:xfrm>
          <a:prstGeom prst="straightConnector1">
            <a:avLst/>
          </a:prstGeom>
          <a:solidFill>
            <a:srgbClr val="DEE0E3">
              <a:alpha val="100000"/>
            </a:srgbClr>
          </a:solidFill>
          <a:ln w="12700" cap="flat" cmpd="sng">
            <a:solidFill>
              <a:srgbClr val="FFFFFF">
                <a:alpha val="10000"/>
              </a:srgbClr>
            </a:solidFill>
            <a:prstDash val="solid"/>
            <a:round/>
            <a:headEnd type="none" w="med" len="med"/>
            <a:tailEnd type="none" w="med" len="med"/>
          </a:ln>
        </p:spPr>
      </p:cxnSp>
      <p:cxnSp>
        <p:nvCxnSpPr>
          <p:cNvPr id="10" name="Connector 10"/>
          <p:cNvCxnSpPr/>
          <p:nvPr/>
        </p:nvCxnSpPr>
        <p:spPr>
          <a:xfrm rot="5371352">
            <a:off x="8699500" y="2597176"/>
            <a:ext cx="1524000" cy="12700"/>
          </a:xfrm>
          <a:prstGeom prst="straightConnector1">
            <a:avLst/>
          </a:prstGeom>
          <a:solidFill>
            <a:srgbClr val="DEE0E3">
              <a:alpha val="100000"/>
            </a:srgbClr>
          </a:solidFill>
          <a:ln w="12700" cap="flat" cmpd="sng">
            <a:solidFill>
              <a:srgbClr val="FFFFFF">
                <a:alpha val="10000"/>
              </a:srgbClr>
            </a:solidFill>
            <a:prstDash val="solid"/>
            <a:round/>
            <a:headEnd type="none" w="med" len="med"/>
            <a:tailEnd type="none" w="med" len="med"/>
          </a:ln>
        </p:spPr>
      </p:cxnSp>
      <p:cxnSp>
        <p:nvCxnSpPr>
          <p:cNvPr id="15" name="Connector 15"/>
          <p:cNvCxnSpPr/>
          <p:nvPr/>
        </p:nvCxnSpPr>
        <p:spPr>
          <a:xfrm rot="-7639">
            <a:off x="5588007" y="5099050"/>
            <a:ext cx="5715000" cy="12700"/>
          </a:xfrm>
          <a:prstGeom prst="straightConnector1">
            <a:avLst/>
          </a:prstGeom>
          <a:solidFill>
            <a:srgbClr val="DEE0E3">
              <a:alpha val="100000"/>
            </a:srgbClr>
          </a:solidFill>
          <a:ln w="12700" cap="flat" cmpd="sng">
            <a:solidFill>
              <a:srgbClr val="FFFFFF">
                <a:alpha val="10000"/>
              </a:srgbClr>
            </a:solidFill>
            <a:prstDash val="dash"/>
            <a:round/>
            <a:headEnd type="none" w="med" len="med"/>
            <a:tailEnd type="none" w="med" len="med"/>
          </a:ln>
        </p:spPr>
      </p:cxnSp>
      <p:pic>
        <p:nvPicPr>
          <p:cNvPr id="18" name="图片 17"/>
          <p:cNvPicPr>
            <a:picLocks noChangeAspect="1"/>
          </p:cNvPicPr>
          <p:nvPr/>
        </p:nvPicPr>
        <p:blipFill>
          <a:blip r:embed="rId2"/>
          <a:stretch>
            <a:fillRect/>
          </a:stretch>
        </p:blipFill>
        <p:spPr>
          <a:xfrm>
            <a:off x="110490" y="1354455"/>
            <a:ext cx="11723370" cy="53784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01 核心服务端逻辑</a:t>
            </a:r>
            <a:endParaRPr lang="en-US" sz="1100"/>
          </a:p>
        </p:txBody>
      </p:sp>
      <p:pic>
        <p:nvPicPr>
          <p:cNvPr id="19" name="图片 18"/>
          <p:cNvPicPr>
            <a:picLocks noChangeAspect="1"/>
          </p:cNvPicPr>
          <p:nvPr/>
        </p:nvPicPr>
        <p:blipFill>
          <a:blip r:embed="rId2"/>
          <a:stretch>
            <a:fillRect/>
          </a:stretch>
        </p:blipFill>
        <p:spPr>
          <a:xfrm>
            <a:off x="925195" y="1154430"/>
            <a:ext cx="9189720" cy="1417320"/>
          </a:xfrm>
          <a:prstGeom prst="rect">
            <a:avLst/>
          </a:prstGeom>
        </p:spPr>
      </p:pic>
      <p:pic>
        <p:nvPicPr>
          <p:cNvPr id="20" name="图片 19"/>
          <p:cNvPicPr>
            <a:picLocks noChangeAspect="1"/>
          </p:cNvPicPr>
          <p:nvPr/>
        </p:nvPicPr>
        <p:blipFill>
          <a:blip r:embed="rId3"/>
          <a:stretch>
            <a:fillRect/>
          </a:stretch>
        </p:blipFill>
        <p:spPr>
          <a:xfrm>
            <a:off x="0" y="2571750"/>
            <a:ext cx="12192635" cy="426593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01 </a:t>
            </a:r>
            <a:r>
              <a:rPr lang="zh-CN" altLang="en-US" sz="3200" b="1">
                <a:solidFill>
                  <a:srgbClr val="34D399"/>
                </a:solidFill>
                <a:latin typeface="Noto Sans SC" panose="020B0200000000000000" charset="-122"/>
                <a:ea typeface="Noto Sans SC" panose="020B0200000000000000" charset="-122"/>
                <a:cs typeface="Noto Sans SC" panose="020B0200000000000000" charset="-122"/>
                <a:sym typeface="+mn-ea"/>
              </a:rPr>
              <a:t>被测</a:t>
            </a:r>
            <a:r>
              <a:rPr lang="zh-CN" altLang="en-US" sz="3200" b="1">
                <a:solidFill>
                  <a:srgbClr val="34D399"/>
                </a:solidFill>
                <a:latin typeface="Noto Sans SC" panose="020B0200000000000000" charset="-122"/>
                <a:ea typeface="Noto Sans SC" panose="020B0200000000000000" charset="-122"/>
                <a:cs typeface="Noto Sans SC" panose="020B0200000000000000" charset="-122"/>
                <a:sym typeface="+mn-ea"/>
              </a:rPr>
              <a:t>对象核心功能</a:t>
            </a:r>
            <a:endParaRPr lang="en-US" sz="1100"/>
          </a:p>
        </p:txBody>
      </p:sp>
      <p:sp>
        <p:nvSpPr>
          <p:cNvPr id="4" name="AutoShape 4"/>
          <p:cNvSpPr/>
          <p:nvPr/>
        </p:nvSpPr>
        <p:spPr>
          <a:xfrm>
            <a:off x="762000" y="1524000"/>
            <a:ext cx="5270500" cy="1460500"/>
          </a:xfrm>
          <a:prstGeom prst="roundRect">
            <a:avLst>
              <a:gd name="adj" fmla="val 0"/>
            </a:avLst>
          </a:prstGeom>
          <a:solidFill>
            <a:srgbClr val="34D399">
              <a:alpha val="8000"/>
            </a:srgbClr>
          </a:solidFill>
          <a:ln w="12700" cap="flat" cmpd="sng">
            <a:solidFill>
              <a:srgbClr val="34D399">
                <a:alpha val="25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952500" y="1676400"/>
            <a:ext cx="50165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01 / 核心思想：渲染差异即指纹</a:t>
            </a:r>
            <a:endParaRPr lang="en-US" sz="1100"/>
          </a:p>
          <a:p>
            <a:pPr marL="0" indent="0" algn="l">
              <a:lnSpc>
                <a:spcPct val="117000"/>
              </a:lnSpc>
              <a:spcBef>
                <a:spcPts val="800"/>
              </a:spcBef>
            </a:pPr>
            <a:r>
              <a:rPr lang="en-US" sz="13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不同浏览器、操作系统及环境配置，在解析和计算CSS时会产生细微但可预测的渲染差异。攻击者通过探测这些底层差异，即可构建出唯一的用户设备指纹，实现精准识别与追踪。</a:t>
            </a:r>
            <a:endParaRPr lang="en-US" sz="13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 name="AutoShape 6"/>
          <p:cNvSpPr/>
          <p:nvPr/>
        </p:nvSpPr>
        <p:spPr>
          <a:xfrm>
            <a:off x="6159500" y="1524000"/>
            <a:ext cx="5270500" cy="1460500"/>
          </a:xfrm>
          <a:prstGeom prst="roundRect">
            <a:avLst>
              <a:gd name="adj" fmla="val 0"/>
            </a:avLst>
          </a:prstGeom>
          <a:solidFill>
            <a:srgbClr val="34D399">
              <a:alpha val="8000"/>
            </a:srgbClr>
          </a:solidFill>
          <a:ln w="12700" cap="flat" cmpd="sng">
            <a:solidFill>
              <a:srgbClr val="34D399">
                <a:alpha val="25000"/>
              </a:srgbClr>
            </a:solidFill>
            <a:prstDash val="solid"/>
            <a:round/>
          </a:ln>
        </p:spPr>
        <p:txBody>
          <a:bodyPr vert="horz" wrap="square" lIns="63500" tIns="63500" rIns="63500" bIns="63500" rtlCol="0" anchor="ctr"/>
          <a:lstStyle/>
          <a:p>
            <a:pPr algn="ctr">
              <a:defRPr/>
            </a:pPr>
          </a:p>
        </p:txBody>
      </p:sp>
      <p:sp>
        <p:nvSpPr>
          <p:cNvPr id="7" name="AutoShape 7"/>
          <p:cNvSpPr/>
          <p:nvPr/>
        </p:nvSpPr>
        <p:spPr>
          <a:xfrm>
            <a:off x="6350000" y="1676400"/>
            <a:ext cx="50165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02 / 无脚本攻击：绕过传统防护</a:t>
            </a:r>
            <a:endParaRPr lang="en-US" sz="1100"/>
          </a:p>
          <a:p>
            <a:pPr marL="0" indent="0" algn="l">
              <a:lnSpc>
                <a:spcPct val="117000"/>
              </a:lnSpc>
              <a:spcBef>
                <a:spcPts val="800"/>
              </a:spcBef>
            </a:pPr>
            <a:r>
              <a:rPr lang="en-US" sz="13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这是一种完全“无脚本”的攻击路径，不依赖JavaScript执行即可完成指纹采集。它能够轻松绕过依赖“禁用JS”的传统安全防护思路，具有极高的隐蔽性和穿透性。</a:t>
            </a:r>
            <a:endParaRPr lang="en-US" sz="13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 name="AutoShape 8"/>
          <p:cNvSpPr/>
          <p:nvPr/>
        </p:nvSpPr>
        <p:spPr>
          <a:xfrm>
            <a:off x="762000" y="3302000"/>
            <a:ext cx="1066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FFFFF">
                    <a:alpha val="9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五大关键特征来源解析</a:t>
            </a:r>
            <a:endParaRPr lang="en-US" sz="1100"/>
          </a:p>
        </p:txBody>
      </p:sp>
      <p:sp>
        <p:nvSpPr>
          <p:cNvPr id="9" name="AutoShape 9"/>
          <p:cNvSpPr/>
          <p:nvPr>
            <p:custDataLst>
              <p:tags r:id="rId2"/>
            </p:custDataLst>
          </p:nvPr>
        </p:nvSpPr>
        <p:spPr>
          <a:xfrm>
            <a:off x="762000" y="3937000"/>
            <a:ext cx="2082800" cy="2349500"/>
          </a:xfrm>
          <a:prstGeom prst="roundRect">
            <a:avLst>
              <a:gd name="adj" fmla="val 0"/>
            </a:avLst>
          </a:prstGeom>
          <a:solidFill>
            <a:srgbClr val="FFFFFF">
              <a:alpha val="5000"/>
            </a:srgbClr>
          </a:solidFill>
          <a:ln w="12700" cap="flat" cmpd="sng">
            <a:solidFill>
              <a:srgbClr val="FFFFFF">
                <a:alpha val="10000"/>
              </a:srgbClr>
            </a:solidFill>
            <a:prstDash val="solid"/>
            <a:round/>
          </a:ln>
        </p:spPr>
        <p:txBody>
          <a:bodyPr vert="horz" wrap="square" lIns="63500" tIns="63500" rIns="63500" bIns="63500" rtlCol="0" anchor="ctr"/>
          <a:lstStyle/>
          <a:p>
            <a:pPr algn="ctr">
              <a:defRPr/>
            </a:pPr>
          </a:p>
        </p:txBody>
      </p:sp>
      <p:sp>
        <p:nvSpPr>
          <p:cNvPr id="10" name="AutoShape 10"/>
          <p:cNvSpPr/>
          <p:nvPr>
            <p:custDataLst>
              <p:tags r:id="rId3"/>
            </p:custDataLst>
          </p:nvPr>
        </p:nvSpPr>
        <p:spPr>
          <a:xfrm>
            <a:off x="762000" y="3937000"/>
            <a:ext cx="2082800" cy="381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custDataLst>
              <p:tags r:id="rId4"/>
            </p:custDataLst>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14400" y="4191000"/>
            <a:ext cx="279400" cy="279400"/>
          </a:xfrm>
          <a:prstGeom prst="rect">
            <a:avLst/>
          </a:prstGeom>
        </p:spPr>
      </p:pic>
      <p:sp>
        <p:nvSpPr>
          <p:cNvPr id="12" name="AutoShape 12"/>
          <p:cNvSpPr/>
          <p:nvPr>
            <p:custDataLst>
              <p:tags r:id="rId7"/>
            </p:custDataLst>
          </p:nvPr>
        </p:nvSpPr>
        <p:spPr>
          <a:xfrm>
            <a:off x="1270000" y="4191000"/>
            <a:ext cx="1524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数学计算差异	</a:t>
            </a:r>
            <a:r>
              <a:rPr lang="en-US" sz="15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calc</a:t>
            </a:r>
            <a:endParaRPr lang="en-US" sz="15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13"/>
          <p:cNvSpPr/>
          <p:nvPr>
            <p:custDataLst>
              <p:tags r:id="rId8"/>
            </p:custDataLst>
          </p:nvPr>
        </p:nvSpPr>
        <p:spPr>
          <a:xfrm>
            <a:off x="889000" y="4699000"/>
            <a:ext cx="18288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不同浏览器内核对浮点数运算、三角函数及舍入规则的底层实现不同。`calc()` 函数是探测此类差异的典型入口。</a:t>
            </a:r>
            <a:endParaRPr lang="en-US" sz="1100"/>
          </a:p>
        </p:txBody>
      </p:sp>
      <p:sp>
        <p:nvSpPr>
          <p:cNvPr id="14" name="AutoShape 14"/>
          <p:cNvSpPr/>
          <p:nvPr>
            <p:custDataLst>
              <p:tags r:id="rId9"/>
            </p:custDataLst>
          </p:nvPr>
        </p:nvSpPr>
        <p:spPr>
          <a:xfrm>
            <a:off x="2959100" y="3937000"/>
            <a:ext cx="2082800" cy="2349500"/>
          </a:xfrm>
          <a:prstGeom prst="roundRect">
            <a:avLst>
              <a:gd name="adj" fmla="val 0"/>
            </a:avLst>
          </a:prstGeom>
          <a:solidFill>
            <a:srgbClr val="FFFFFF">
              <a:alpha val="5000"/>
            </a:srgbClr>
          </a:solidFill>
          <a:ln w="12700" cap="flat" cmpd="sng">
            <a:solidFill>
              <a:srgbClr val="FFFFFF">
                <a:alpha val="10000"/>
              </a:srgbClr>
            </a:solidFill>
            <a:prstDash val="solid"/>
            <a:round/>
          </a:ln>
        </p:spPr>
        <p:txBody>
          <a:bodyPr vert="horz" wrap="square" lIns="63500" tIns="63500" rIns="63500" bIns="63500" rtlCol="0" anchor="ctr"/>
          <a:lstStyle/>
          <a:p>
            <a:pPr algn="ctr">
              <a:defRPr/>
            </a:pPr>
          </a:p>
        </p:txBody>
      </p:sp>
      <p:sp>
        <p:nvSpPr>
          <p:cNvPr id="15" name="AutoShape 15"/>
          <p:cNvSpPr/>
          <p:nvPr>
            <p:custDataLst>
              <p:tags r:id="rId10"/>
            </p:custDataLst>
          </p:nvPr>
        </p:nvSpPr>
        <p:spPr>
          <a:xfrm>
            <a:off x="2959100" y="3937000"/>
            <a:ext cx="2082800" cy="381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custDataLst>
              <p:tags r:id="rId11"/>
            </p:custDataLst>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111500" y="4191000"/>
            <a:ext cx="279400" cy="279400"/>
          </a:xfrm>
          <a:prstGeom prst="rect">
            <a:avLst/>
          </a:prstGeom>
        </p:spPr>
      </p:pic>
      <p:sp>
        <p:nvSpPr>
          <p:cNvPr id="17" name="AutoShape 17"/>
          <p:cNvSpPr/>
          <p:nvPr>
            <p:custDataLst>
              <p:tags r:id="rId14"/>
            </p:custDataLst>
          </p:nvPr>
        </p:nvSpPr>
        <p:spPr>
          <a:xfrm>
            <a:off x="3467100" y="4191000"/>
            <a:ext cx="1524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环境变量特征	</a:t>
            </a:r>
            <a:r>
              <a:rPr lang="en-US" sz="15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env</a:t>
            </a:r>
            <a:endParaRPr lang="en-US" sz="15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8" name="AutoShape 18"/>
          <p:cNvSpPr/>
          <p:nvPr>
            <p:custDataLst>
              <p:tags r:id="rId15"/>
            </p:custDataLst>
          </p:nvPr>
        </p:nvSpPr>
        <p:spPr>
          <a:xfrm>
            <a:off x="3086100" y="4699000"/>
            <a:ext cx="18288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`env()` 变量会暴露安全区域、状态栏高度等系统级UI布局细节，直接映射设备类型与系统的专属配置差异。</a:t>
            </a:r>
            <a:endParaRPr lang="en-US" sz="1100"/>
          </a:p>
        </p:txBody>
      </p:sp>
      <p:sp>
        <p:nvSpPr>
          <p:cNvPr id="19" name="AutoShape 19"/>
          <p:cNvSpPr/>
          <p:nvPr>
            <p:custDataLst>
              <p:tags r:id="rId16"/>
            </p:custDataLst>
          </p:nvPr>
        </p:nvSpPr>
        <p:spPr>
          <a:xfrm>
            <a:off x="5156200" y="3937000"/>
            <a:ext cx="2082800" cy="2349500"/>
          </a:xfrm>
          <a:prstGeom prst="roundRect">
            <a:avLst>
              <a:gd name="adj" fmla="val 0"/>
            </a:avLst>
          </a:prstGeom>
          <a:solidFill>
            <a:srgbClr val="FFFFFF">
              <a:alpha val="5000"/>
            </a:srgbClr>
          </a:solidFill>
          <a:ln w="12700" cap="flat" cmpd="sng">
            <a:solidFill>
              <a:srgbClr val="FFFFFF">
                <a:alpha val="10000"/>
              </a:srgbClr>
            </a:solidFill>
            <a:prstDash val="solid"/>
            <a:round/>
          </a:ln>
        </p:spPr>
        <p:txBody>
          <a:bodyPr vert="horz" wrap="square" lIns="63500" tIns="63500" rIns="63500" bIns="63500" rtlCol="0" anchor="ctr"/>
          <a:lstStyle/>
          <a:p>
            <a:pPr algn="ctr">
              <a:defRPr/>
            </a:pPr>
          </a:p>
        </p:txBody>
      </p:sp>
      <p:sp>
        <p:nvSpPr>
          <p:cNvPr id="20" name="AutoShape 20"/>
          <p:cNvSpPr/>
          <p:nvPr>
            <p:custDataLst>
              <p:tags r:id="rId17"/>
            </p:custDataLst>
          </p:nvPr>
        </p:nvSpPr>
        <p:spPr>
          <a:xfrm>
            <a:off x="5156200" y="3937000"/>
            <a:ext cx="2082800" cy="381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1" name="Picture 21"/>
          <p:cNvPicPr>
            <a:picLocks noChangeAspect="1"/>
          </p:cNvPicPr>
          <p:nvPr>
            <p:custDataLst>
              <p:tags r:id="rId18"/>
            </p:custDataLst>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5308600" y="4191000"/>
            <a:ext cx="279400" cy="279400"/>
          </a:xfrm>
          <a:prstGeom prst="rect">
            <a:avLst/>
          </a:prstGeom>
        </p:spPr>
      </p:pic>
      <p:sp>
        <p:nvSpPr>
          <p:cNvPr id="22" name="AutoShape 22"/>
          <p:cNvSpPr/>
          <p:nvPr>
            <p:custDataLst>
              <p:tags r:id="rId21"/>
            </p:custDataLst>
          </p:nvPr>
        </p:nvSpPr>
        <p:spPr>
          <a:xfrm>
            <a:off x="5664200" y="4191000"/>
            <a:ext cx="1524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默认样式基底	</a:t>
            </a:r>
            <a:r>
              <a:rPr lang="en-US" sz="15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props</a:t>
            </a:r>
            <a:endParaRPr lang="en-US" sz="15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3" name="AutoShape 23"/>
          <p:cNvSpPr/>
          <p:nvPr>
            <p:custDataLst>
              <p:tags r:id="rId22"/>
            </p:custDataLst>
          </p:nvPr>
        </p:nvSpPr>
        <p:spPr>
          <a:xfrm>
            <a:off x="5283200" y="4699000"/>
            <a:ext cx="18288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浏览器自带的默认样式表（UA Sheet）及CSS属性支持集各不相同，构成了设备指纹的基础识别维度。</a:t>
            </a:r>
            <a:endParaRPr lang="en-US" sz="1100"/>
          </a:p>
        </p:txBody>
      </p:sp>
      <p:sp>
        <p:nvSpPr>
          <p:cNvPr id="24" name="AutoShape 24"/>
          <p:cNvSpPr/>
          <p:nvPr>
            <p:custDataLst>
              <p:tags r:id="rId23"/>
            </p:custDataLst>
          </p:nvPr>
        </p:nvSpPr>
        <p:spPr>
          <a:xfrm>
            <a:off x="7353300" y="3937000"/>
            <a:ext cx="2082800" cy="2349500"/>
          </a:xfrm>
          <a:prstGeom prst="roundRect">
            <a:avLst>
              <a:gd name="adj" fmla="val 0"/>
            </a:avLst>
          </a:prstGeom>
          <a:solidFill>
            <a:srgbClr val="FFFFFF">
              <a:alpha val="5000"/>
            </a:srgbClr>
          </a:solidFill>
          <a:ln w="12700" cap="flat" cmpd="sng">
            <a:solidFill>
              <a:srgbClr val="FFFFFF">
                <a:alpha val="10000"/>
              </a:srgbClr>
            </a:solidFill>
            <a:prstDash val="solid"/>
            <a:round/>
          </a:ln>
        </p:spPr>
        <p:txBody>
          <a:bodyPr vert="horz" wrap="square" lIns="63500" tIns="63500" rIns="63500" bIns="63500" rtlCol="0" anchor="ctr"/>
          <a:lstStyle/>
          <a:p>
            <a:pPr algn="ctr">
              <a:defRPr/>
            </a:pPr>
          </a:p>
        </p:txBody>
      </p:sp>
      <p:sp>
        <p:nvSpPr>
          <p:cNvPr id="25" name="AutoShape 25"/>
          <p:cNvSpPr/>
          <p:nvPr>
            <p:custDataLst>
              <p:tags r:id="rId24"/>
            </p:custDataLst>
          </p:nvPr>
        </p:nvSpPr>
        <p:spPr>
          <a:xfrm>
            <a:off x="7353300" y="3937000"/>
            <a:ext cx="2082800" cy="381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6" name="Picture 26"/>
          <p:cNvPicPr>
            <a:picLocks noChangeAspect="1"/>
          </p:cNvPicPr>
          <p:nvPr>
            <p:custDataLst>
              <p:tags r:id="rId25"/>
            </p:custDataLst>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7505700" y="4191000"/>
            <a:ext cx="279400" cy="279400"/>
          </a:xfrm>
          <a:prstGeom prst="rect">
            <a:avLst/>
          </a:prstGeom>
        </p:spPr>
      </p:pic>
      <p:sp>
        <p:nvSpPr>
          <p:cNvPr id="27" name="AutoShape 27"/>
          <p:cNvSpPr/>
          <p:nvPr>
            <p:custDataLst>
              <p:tags r:id="rId28"/>
            </p:custDataLst>
          </p:nvPr>
        </p:nvSpPr>
        <p:spPr>
          <a:xfrm>
            <a:off x="7861300" y="4191000"/>
            <a:ext cx="1524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字体渲染度量</a:t>
            </a:r>
            <a:endParaRPr lang="en-US" sz="15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r>
              <a:rPr lang="en-US" sz="1500" b="1">
                <a:solidFill>
                  <a:srgbClr val="FFFFFF"/>
                </a:solidFill>
                <a:latin typeface="Noto Sans SC" panose="020B0200000000000000" charset="-122"/>
                <a:ea typeface="Noto Sans SC" panose="020B0200000000000000" charset="-122"/>
                <a:cs typeface="Noto Sans SC" panose="020B0200000000000000" charset="-122"/>
              </a:rPr>
              <a:t>fontcontaine</a:t>
            </a:r>
            <a:r>
              <a:rPr lang="en-US" sz="1100"/>
              <a:t>r</a:t>
            </a:r>
            <a:endParaRPr lang="en-US" sz="1100"/>
          </a:p>
        </p:txBody>
      </p:sp>
      <p:sp>
        <p:nvSpPr>
          <p:cNvPr id="28" name="AutoShape 28"/>
          <p:cNvSpPr/>
          <p:nvPr>
            <p:custDataLst>
              <p:tags r:id="rId29"/>
            </p:custDataLst>
          </p:nvPr>
        </p:nvSpPr>
        <p:spPr>
          <a:xfrm>
            <a:off x="7480300" y="4699000"/>
            <a:ext cx="18288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系统预装字体库、字体回退机制及字形宽度的渲染差异，是辨识度极高的指纹特征，难以被用户伪装。</a:t>
            </a:r>
            <a:endParaRPr lang="en-US" sz="1100"/>
          </a:p>
        </p:txBody>
      </p:sp>
      <p:sp>
        <p:nvSpPr>
          <p:cNvPr id="29" name="AutoShape 29"/>
          <p:cNvSpPr/>
          <p:nvPr>
            <p:custDataLst>
              <p:tags r:id="rId30"/>
            </p:custDataLst>
          </p:nvPr>
        </p:nvSpPr>
        <p:spPr>
          <a:xfrm>
            <a:off x="9550400" y="3937000"/>
            <a:ext cx="2082800" cy="2349500"/>
          </a:xfrm>
          <a:prstGeom prst="roundRect">
            <a:avLst>
              <a:gd name="adj" fmla="val 0"/>
            </a:avLst>
          </a:prstGeom>
          <a:solidFill>
            <a:srgbClr val="FFFFFF">
              <a:alpha val="5000"/>
            </a:srgbClr>
          </a:solidFill>
          <a:ln w="12700" cap="flat" cmpd="sng">
            <a:solidFill>
              <a:srgbClr val="FFFFFF">
                <a:alpha val="10000"/>
              </a:srgbClr>
            </a:solidFill>
            <a:prstDash val="solid"/>
            <a:round/>
          </a:ln>
        </p:spPr>
        <p:txBody>
          <a:bodyPr vert="horz" wrap="square" lIns="63500" tIns="63500" rIns="63500" bIns="63500" rtlCol="0" anchor="ctr"/>
          <a:lstStyle/>
          <a:p>
            <a:pPr algn="ctr">
              <a:defRPr/>
            </a:pPr>
          </a:p>
        </p:txBody>
      </p:sp>
      <p:sp>
        <p:nvSpPr>
          <p:cNvPr id="30" name="AutoShape 30"/>
          <p:cNvSpPr/>
          <p:nvPr>
            <p:custDataLst>
              <p:tags r:id="rId31"/>
            </p:custDataLst>
          </p:nvPr>
        </p:nvSpPr>
        <p:spPr>
          <a:xfrm>
            <a:off x="9550400" y="3937000"/>
            <a:ext cx="2082800" cy="381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31" name="Picture 31"/>
          <p:cNvPicPr>
            <a:picLocks noChangeAspect="1"/>
          </p:cNvPicPr>
          <p:nvPr>
            <p:custDataLst>
              <p:tags r:id="rId32"/>
            </p:custDataLst>
          </p:nvPr>
        </p:nvPicPr>
        <p:blipFill>
          <a:blip r:embed="rId33">
            <a:extLst>
              <a:ext uri="{28A0092B-C50C-407E-A947-70E740481C1C}">
                <a14:useLocalDpi xmlns:a14="http://schemas.microsoft.com/office/drawing/2010/main" val="0"/>
              </a:ext>
              <a:ext uri="{96DAC541-7B7A-43D3-8B79-37D633B846F1}">
                <asvg:svgBlip xmlns:asvg="http://schemas.microsoft.com/office/drawing/2016/SVG/main" r:embed="rId34"/>
              </a:ext>
            </a:extLst>
          </a:blip>
          <a:stretch>
            <a:fillRect/>
          </a:stretch>
        </p:blipFill>
        <p:spPr>
          <a:xfrm>
            <a:off x="9702800" y="4191000"/>
            <a:ext cx="279400" cy="279400"/>
          </a:xfrm>
          <a:prstGeom prst="rect">
            <a:avLst/>
          </a:prstGeom>
        </p:spPr>
      </p:pic>
      <p:sp>
        <p:nvSpPr>
          <p:cNvPr id="32" name="AutoShape 32"/>
          <p:cNvSpPr/>
          <p:nvPr>
            <p:custDataLst>
              <p:tags r:id="rId35"/>
            </p:custDataLst>
          </p:nvPr>
        </p:nvSpPr>
        <p:spPr>
          <a:xfrm>
            <a:off x="10058400" y="4191000"/>
            <a:ext cx="1524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相对单位解析</a:t>
            </a:r>
            <a:endParaRPr lang="en-US" sz="15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r>
              <a:rPr lang="en-US" sz="1500" b="1">
                <a:solidFill>
                  <a:srgbClr val="FFFFFF"/>
                </a:solidFill>
                <a:latin typeface="Noto Sans SC" panose="020B0200000000000000" charset="-122"/>
                <a:ea typeface="Noto Sans SC" panose="020B0200000000000000" charset="-122"/>
                <a:cs typeface="Noto Sans SC" panose="020B0200000000000000" charset="-122"/>
              </a:rPr>
              <a:t>valuecontainer</a:t>
            </a:r>
            <a:endParaRPr lang="en-US" sz="1500" b="1">
              <a:solidFill>
                <a:srgbClr val="FFFFFF"/>
              </a:solidFill>
              <a:latin typeface="Noto Sans SC" panose="020B0200000000000000" charset="-122"/>
              <a:ea typeface="Noto Sans SC" panose="020B0200000000000000" charset="-122"/>
              <a:cs typeface="Noto Sans SC" panose="020B0200000000000000" charset="-122"/>
            </a:endParaRPr>
          </a:p>
        </p:txBody>
      </p:sp>
      <p:sp>
        <p:nvSpPr>
          <p:cNvPr id="33" name="AutoShape 33"/>
          <p:cNvSpPr/>
          <p:nvPr>
            <p:custDataLst>
              <p:tags r:id="rId36"/>
            </p:custDataLst>
          </p:nvPr>
        </p:nvSpPr>
        <p:spPr>
          <a:xfrm>
            <a:off x="9677400" y="4699000"/>
            <a:ext cx="18288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`lh`、`em` 等相对单位的计算结果受浏览器排版引擎和默认设置影响，呈现出设备特有的数值偏差。</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01 </a:t>
            </a:r>
            <a:r>
              <a:rPr lang="en-US" sz="3200" b="1">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被测对象核心功能</a:t>
            </a:r>
            <a:endParaRPr lang="en-US" sz="1100"/>
          </a:p>
        </p:txBody>
      </p:sp>
      <p:cxnSp>
        <p:nvCxnSpPr>
          <p:cNvPr id="8" name="Connector 8"/>
          <p:cNvCxnSpPr/>
          <p:nvPr/>
        </p:nvCxnSpPr>
        <p:spPr>
          <a:xfrm rot="5371352">
            <a:off x="6731000" y="2597176"/>
            <a:ext cx="1524000" cy="12700"/>
          </a:xfrm>
          <a:prstGeom prst="straightConnector1">
            <a:avLst/>
          </a:prstGeom>
          <a:solidFill>
            <a:srgbClr val="DEE0E3">
              <a:alpha val="100000"/>
            </a:srgbClr>
          </a:solidFill>
          <a:ln w="12700" cap="flat" cmpd="sng">
            <a:solidFill>
              <a:srgbClr val="FFFFFF">
                <a:alpha val="10000"/>
              </a:srgbClr>
            </a:solidFill>
            <a:prstDash val="solid"/>
            <a:round/>
            <a:headEnd type="none" w="med" len="med"/>
            <a:tailEnd type="none" w="med" len="med"/>
          </a:ln>
        </p:spPr>
      </p:cxnSp>
      <p:cxnSp>
        <p:nvCxnSpPr>
          <p:cNvPr id="10" name="Connector 10"/>
          <p:cNvCxnSpPr/>
          <p:nvPr/>
        </p:nvCxnSpPr>
        <p:spPr>
          <a:xfrm rot="5371352">
            <a:off x="8699500" y="2597176"/>
            <a:ext cx="1524000" cy="12700"/>
          </a:xfrm>
          <a:prstGeom prst="straightConnector1">
            <a:avLst/>
          </a:prstGeom>
          <a:solidFill>
            <a:srgbClr val="DEE0E3">
              <a:alpha val="100000"/>
            </a:srgbClr>
          </a:solidFill>
          <a:ln w="12700" cap="flat" cmpd="sng">
            <a:solidFill>
              <a:srgbClr val="FFFFFF">
                <a:alpha val="10000"/>
              </a:srgbClr>
            </a:solidFill>
            <a:prstDash val="solid"/>
            <a:round/>
            <a:headEnd type="none" w="med" len="med"/>
            <a:tailEnd type="none" w="med" len="med"/>
          </a:ln>
        </p:spPr>
      </p:cxnSp>
      <p:cxnSp>
        <p:nvCxnSpPr>
          <p:cNvPr id="15" name="Connector 15"/>
          <p:cNvCxnSpPr/>
          <p:nvPr/>
        </p:nvCxnSpPr>
        <p:spPr>
          <a:xfrm rot="-7639">
            <a:off x="5588007" y="5099050"/>
            <a:ext cx="5715000" cy="12700"/>
          </a:xfrm>
          <a:prstGeom prst="straightConnector1">
            <a:avLst/>
          </a:prstGeom>
          <a:solidFill>
            <a:srgbClr val="DEE0E3">
              <a:alpha val="100000"/>
            </a:srgbClr>
          </a:solidFill>
          <a:ln w="12700" cap="flat" cmpd="sng">
            <a:solidFill>
              <a:srgbClr val="FFFFFF">
                <a:alpha val="10000"/>
              </a:srgbClr>
            </a:solidFill>
            <a:prstDash val="dash"/>
            <a:round/>
            <a:headEnd type="none" w="med" len="med"/>
            <a:tailEnd type="none" w="med" len="med"/>
          </a:ln>
        </p:spPr>
      </p:cxnSp>
      <p:pic>
        <p:nvPicPr>
          <p:cNvPr id="4" name="图片 3"/>
          <p:cNvPicPr>
            <a:picLocks noChangeAspect="1"/>
          </p:cNvPicPr>
          <p:nvPr/>
        </p:nvPicPr>
        <p:blipFill>
          <a:blip r:embed="rId2"/>
          <a:stretch>
            <a:fillRect/>
          </a:stretch>
        </p:blipFill>
        <p:spPr>
          <a:xfrm>
            <a:off x="93345" y="1270000"/>
            <a:ext cx="5494655" cy="5414645"/>
          </a:xfrm>
          <a:prstGeom prst="rect">
            <a:avLst/>
          </a:prstGeom>
        </p:spPr>
      </p:pic>
      <p:pic>
        <p:nvPicPr>
          <p:cNvPr id="5" name="图片 4"/>
          <p:cNvPicPr>
            <a:picLocks noChangeAspect="1"/>
          </p:cNvPicPr>
          <p:nvPr/>
        </p:nvPicPr>
        <p:blipFill>
          <a:blip r:embed="rId3"/>
          <a:stretch>
            <a:fillRect/>
          </a:stretch>
        </p:blipFill>
        <p:spPr>
          <a:xfrm>
            <a:off x="6014720" y="1205865"/>
            <a:ext cx="5714365" cy="547878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01 </a:t>
            </a:r>
            <a:r>
              <a:rPr lang="zh-CN" altLang="en-US" sz="32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运行结果分析</a:t>
            </a:r>
            <a:r>
              <a:rPr lang="en-US" sz="32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 calc 实验：CSS计算差异</a:t>
            </a:r>
            <a:endParaRPr lang="en-US" sz="1100"/>
          </a:p>
        </p:txBody>
      </p:sp>
      <p:sp>
        <p:nvSpPr>
          <p:cNvPr id="4" name="AutoShape 4"/>
          <p:cNvSpPr/>
          <p:nvPr/>
        </p:nvSpPr>
        <p:spPr>
          <a:xfrm>
            <a:off x="762000" y="1397000"/>
            <a:ext cx="10668000" cy="889000"/>
          </a:xfrm>
          <a:prstGeom prst="roundRect">
            <a:avLst>
              <a:gd name="adj" fmla="val 0"/>
            </a:avLst>
          </a:prstGeom>
          <a:solidFill>
            <a:srgbClr val="34D399">
              <a:alpha val="10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952500" y="1524000"/>
            <a:ext cx="10287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通过构造并运行 9,797 个包含浮点运算、混合单位的复杂 CSS</a:t>
            </a:r>
            <a:r>
              <a:rPr lang="en-US" sz="1400" b="1"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calc()</a:t>
            </a:r>
            <a:r>
              <a:rPr lang="en-US" sz="14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表达式，在 Chrome、Edge、Firefox 三大主流浏览器中捕获计算结果，旨在量化不同浏览器内核在数值解析精度与运算逻辑上的底层差异。</a:t>
            </a:r>
            <a:endParaRPr lang="en-US" sz="1100"/>
          </a:p>
        </p:txBody>
      </p:sp>
      <p:graphicFrame>
        <p:nvGraphicFramePr>
          <p:cNvPr id="6" name="Table 6"/>
          <p:cNvGraphicFramePr>
            <a:graphicFrameLocks noGrp="1"/>
          </p:cNvGraphicFramePr>
          <p:nvPr/>
        </p:nvGraphicFramePr>
        <p:xfrm>
          <a:off x="762000" y="2476500"/>
          <a:ext cx="10668000" cy="1841500"/>
        </p:xfrm>
        <a:graphic>
          <a:graphicData uri="http://schemas.openxmlformats.org/drawingml/2006/table">
            <a:tbl>
              <a:tblPr>
                <a:effectLst/>
              </a:tblPr>
              <a:tblGrid>
                <a:gridCol w="2794000"/>
                <a:gridCol w="2286000"/>
                <a:gridCol w="2667000"/>
                <a:gridCol w="2921000"/>
              </a:tblGrid>
              <a:tr h="508000">
                <a:tc>
                  <a:txBody>
                    <a:bodyPr rtlCol="0"/>
                    <a:lstStyle/>
                    <a:p>
                      <a:pPr marL="0" indent="0" algn="ctr">
                        <a:lnSpc>
                          <a:spcPct val="100000"/>
                        </a:lnSpc>
                        <a:defRPr/>
                      </a:pPr>
                      <a:r>
                        <a:rPr lang="en-US" sz="14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对比对象</a:t>
                      </a:r>
                      <a:endParaRPr lang="en-US" sz="1100"/>
                    </a:p>
                  </a:txBody>
                  <a:tcPr marL="101600" marR="101600" marT="101600" marB="101600" anchor="t" anchorCtr="0">
                    <a:lnL>
                      <a:noFill/>
                    </a:lnL>
                    <a:lnR>
                      <a:noFill/>
                    </a:lnR>
                    <a:lnT>
                      <a:noFill/>
                    </a:lnT>
                    <a:lnB>
                      <a:noFill/>
                    </a:lnB>
                    <a:solidFill>
                      <a:srgbClr val="34D399">
                        <a:alpha val="25000"/>
                      </a:srgbClr>
                    </a:solidFill>
                  </a:tcPr>
                </a:tc>
                <a:tc>
                  <a:txBody>
                    <a:bodyPr rtlCol="0"/>
                    <a:lstStyle/>
                    <a:p>
                      <a:pPr marL="0" indent="0" algn="ctr">
                        <a:lnSpc>
                          <a:spcPct val="100000"/>
                        </a:lnSpc>
                        <a:defRPr/>
                      </a:pPr>
                      <a:r>
                        <a:rPr lang="en-US" sz="14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共同表达式总数</a:t>
                      </a:r>
                      <a:endParaRPr lang="en-US" sz="1100"/>
                    </a:p>
                  </a:txBody>
                  <a:tcPr marL="101600" marR="101600" marT="101600" marB="101600" anchor="t" anchorCtr="0">
                    <a:lnL>
                      <a:noFill/>
                    </a:lnL>
                    <a:lnR>
                      <a:noFill/>
                    </a:lnR>
                    <a:lnT>
                      <a:noFill/>
                    </a:lnT>
                    <a:lnB>
                      <a:noFill/>
                    </a:lnB>
                    <a:solidFill>
                      <a:srgbClr val="34D399">
                        <a:alpha val="25000"/>
                      </a:srgbClr>
                    </a:solidFill>
                  </a:tcPr>
                </a:tc>
                <a:tc>
                  <a:txBody>
                    <a:bodyPr rtlCol="0"/>
                    <a:lstStyle/>
                    <a:p>
                      <a:pPr marL="0" indent="0" algn="ctr">
                        <a:lnSpc>
                          <a:spcPct val="100000"/>
                        </a:lnSpc>
                        <a:defRPr/>
                      </a:pPr>
                      <a:r>
                        <a:rPr lang="en-US" sz="14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结果不一致数量</a:t>
                      </a:r>
                      <a:endParaRPr lang="en-US" sz="1100"/>
                    </a:p>
                  </a:txBody>
                  <a:tcPr marL="101600" marR="101600" marT="101600" marB="101600" anchor="t" anchorCtr="0">
                    <a:lnL>
                      <a:noFill/>
                    </a:lnL>
                    <a:lnR>
                      <a:noFill/>
                    </a:lnR>
                    <a:lnT>
                      <a:noFill/>
                    </a:lnT>
                    <a:lnB>
                      <a:noFill/>
                    </a:lnB>
                    <a:solidFill>
                      <a:srgbClr val="34D399">
                        <a:alpha val="25000"/>
                      </a:srgbClr>
                    </a:solidFill>
                  </a:tcPr>
                </a:tc>
                <a:tc>
                  <a:txBody>
                    <a:bodyPr rtlCol="0"/>
                    <a:lstStyle/>
                    <a:p>
                      <a:pPr marL="0" indent="0" algn="ctr">
                        <a:lnSpc>
                          <a:spcPct val="100000"/>
                        </a:lnSpc>
                        <a:defRPr/>
                      </a:pPr>
                      <a:r>
                        <a:rPr lang="en-US" sz="14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计算差异率</a:t>
                      </a:r>
                      <a:endParaRPr lang="en-US" sz="1100"/>
                    </a:p>
                  </a:txBody>
                  <a:tcPr marL="101600" marR="101600" marT="101600" marB="101600" anchor="t" anchorCtr="0">
                    <a:lnL>
                      <a:noFill/>
                    </a:lnL>
                    <a:lnR>
                      <a:noFill/>
                    </a:lnR>
                    <a:lnT>
                      <a:noFill/>
                    </a:lnT>
                    <a:lnB>
                      <a:noFill/>
                    </a:lnB>
                    <a:solidFill>
                      <a:srgbClr val="34D399">
                        <a:alpha val="25000"/>
                      </a:srgbClr>
                    </a:solidFill>
                  </a:tcPr>
                </a:tc>
              </a:tr>
              <a:tr h="444500">
                <a:tc>
                  <a:txBody>
                    <a:bodyPr rtlCol="0"/>
                    <a:lstStyle/>
                    <a:p>
                      <a:pPr marL="0" indent="0" algn="ctr">
                        <a:lnSpc>
                          <a:spcPct val="100000"/>
                        </a:lnSpc>
                        <a:defRPr/>
                      </a:pPr>
                      <a:r>
                        <a:rPr lang="en-US" sz="13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Chrome vs Edge</a:t>
                      </a:r>
                      <a:endParaRPr lang="en-US" sz="1100"/>
                    </a:p>
                  </a:txBody>
                  <a:tcPr marL="101600" marR="101600" marT="101600" marB="101600" anchor="t" anchorCtr="0">
                    <a:lnL>
                      <a:noFill/>
                    </a:lnL>
                    <a:lnR>
                      <a:noFill/>
                    </a:lnR>
                    <a:lnT>
                      <a:noFill/>
                    </a:lnT>
                    <a:lnB>
                      <a:noFill/>
                    </a:lnB>
                    <a:solidFill>
                      <a:srgbClr val="FFFFFF">
                        <a:alpha val="5000"/>
                      </a:srgbClr>
                    </a:solidFill>
                  </a:tcPr>
                </a:tc>
                <a:tc>
                  <a:txBody>
                    <a:bodyPr rtlCol="0"/>
                    <a:lstStyle/>
                    <a:p>
                      <a:pPr marL="0" indent="0" algn="ctr">
                        <a:lnSpc>
                          <a:spcPct val="100000"/>
                        </a:lnSpc>
                        <a:defRPr/>
                      </a:pPr>
                      <a:r>
                        <a:rPr lang="en-US" sz="13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9,797</a:t>
                      </a:r>
                      <a:endParaRPr lang="en-US" sz="1100"/>
                    </a:p>
                  </a:txBody>
                  <a:tcPr marL="101600" marR="101600" marT="101600" marB="101600" anchor="t" anchorCtr="0">
                    <a:lnL>
                      <a:noFill/>
                    </a:lnL>
                    <a:lnR>
                      <a:noFill/>
                    </a:lnR>
                    <a:lnT>
                      <a:noFill/>
                    </a:lnT>
                    <a:lnB>
                      <a:noFill/>
                    </a:lnB>
                    <a:solidFill>
                      <a:srgbClr val="FFFFFF">
                        <a:alpha val="5000"/>
                      </a:srgbClr>
                    </a:solidFill>
                  </a:tcPr>
                </a:tc>
                <a:tc>
                  <a:txBody>
                    <a:bodyPr rtlCol="0"/>
                    <a:lstStyle/>
                    <a:p>
                      <a:pPr marL="0" indent="0" algn="ctr">
                        <a:lnSpc>
                          <a:spcPct val="100000"/>
                        </a:lnSpc>
                        <a:defRPr/>
                      </a:pPr>
                      <a:r>
                        <a:rPr lang="en-US" sz="13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2,749</a:t>
                      </a:r>
                      <a:endParaRPr lang="en-US" sz="1100"/>
                    </a:p>
                  </a:txBody>
                  <a:tcPr marL="101600" marR="101600" marT="101600" marB="101600" anchor="t" anchorCtr="0">
                    <a:lnL>
                      <a:noFill/>
                    </a:lnL>
                    <a:lnR>
                      <a:noFill/>
                    </a:lnR>
                    <a:lnT>
                      <a:noFill/>
                    </a:lnT>
                    <a:lnB>
                      <a:noFill/>
                    </a:lnB>
                    <a:solidFill>
                      <a:srgbClr val="FFFFFF">
                        <a:alpha val="5000"/>
                      </a:srgbClr>
                    </a:solidFill>
                  </a:tcPr>
                </a:tc>
                <a:tc>
                  <a:txBody>
                    <a:bodyPr rtlCol="0"/>
                    <a:lstStyle/>
                    <a:p>
                      <a:pPr marL="0" indent="0" algn="ctr">
                        <a:lnSpc>
                          <a:spcPct val="100000"/>
                        </a:lnSpc>
                        <a:defRPr/>
                      </a:pPr>
                      <a:r>
                        <a:rPr lang="en-US" sz="1300" b="1" i="0" u="none" strike="noStrike">
                          <a:solidFill>
                            <a:srgbClr val="FBBF24"/>
                          </a:solidFill>
                          <a:latin typeface="Noto Sans SC" panose="020B0200000000000000" charset="-122"/>
                          <a:ea typeface="Noto Sans SC" panose="020B0200000000000000" charset="-122"/>
                          <a:cs typeface="Noto Sans SC" panose="020B0200000000000000" charset="-122"/>
                          <a:sym typeface="Noto Sans SC" panose="020B0200000000000000" charset="-122"/>
                        </a:rPr>
                        <a:t>~28%</a:t>
                      </a:r>
                      <a:endParaRPr lang="en-US" sz="1100"/>
                    </a:p>
                  </a:txBody>
                  <a:tcPr marL="101600" marR="101600" marT="101600" marB="101600" anchor="t" anchorCtr="0">
                    <a:lnL>
                      <a:noFill/>
                    </a:lnL>
                    <a:lnR>
                      <a:noFill/>
                    </a:lnR>
                    <a:lnT>
                      <a:noFill/>
                    </a:lnT>
                    <a:lnB>
                      <a:noFill/>
                    </a:lnB>
                    <a:solidFill>
                      <a:srgbClr val="FFFFFF">
                        <a:alpha val="5000"/>
                      </a:srgbClr>
                    </a:solidFill>
                  </a:tcPr>
                </a:tc>
              </a:tr>
              <a:tr h="444500">
                <a:tc>
                  <a:txBody>
                    <a:bodyPr rtlCol="0"/>
                    <a:lstStyle/>
                    <a:p>
                      <a:pPr marL="0" indent="0" algn="ctr">
                        <a:lnSpc>
                          <a:spcPct val="100000"/>
                        </a:lnSpc>
                        <a:defRPr/>
                      </a:pPr>
                      <a:r>
                        <a:rPr lang="en-US" sz="13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Chrome vs Firefox</a:t>
                      </a:r>
                      <a:endParaRPr lang="en-US" sz="1100"/>
                    </a:p>
                  </a:txBody>
                  <a:tcPr marL="101600" marR="101600" marT="101600" marB="101600" anchor="t" anchorCtr="0">
                    <a:lnL>
                      <a:noFill/>
                    </a:lnL>
                    <a:lnR>
                      <a:noFill/>
                    </a:lnR>
                    <a:lnT>
                      <a:noFill/>
                    </a:lnT>
                    <a:lnB>
                      <a:noFill/>
                    </a:lnB>
                    <a:solidFill>
                      <a:srgbClr val="FFFFFF">
                        <a:alpha val="5000"/>
                      </a:srgbClr>
                    </a:solidFill>
                  </a:tcPr>
                </a:tc>
                <a:tc>
                  <a:txBody>
                    <a:bodyPr rtlCol="0"/>
                    <a:lstStyle/>
                    <a:p>
                      <a:pPr marL="0" indent="0" algn="ctr">
                        <a:lnSpc>
                          <a:spcPct val="100000"/>
                        </a:lnSpc>
                        <a:defRPr/>
                      </a:pPr>
                      <a:r>
                        <a:rPr lang="en-US" sz="13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9,797</a:t>
                      </a:r>
                      <a:endParaRPr lang="en-US" sz="1100"/>
                    </a:p>
                  </a:txBody>
                  <a:tcPr marL="101600" marR="101600" marT="101600" marB="101600" anchor="t" anchorCtr="0">
                    <a:lnL>
                      <a:noFill/>
                    </a:lnL>
                    <a:lnR>
                      <a:noFill/>
                    </a:lnR>
                    <a:lnT>
                      <a:noFill/>
                    </a:lnT>
                    <a:lnB>
                      <a:noFill/>
                    </a:lnB>
                    <a:solidFill>
                      <a:srgbClr val="FFFFFF">
                        <a:alpha val="5000"/>
                      </a:srgbClr>
                    </a:solidFill>
                  </a:tcPr>
                </a:tc>
                <a:tc>
                  <a:txBody>
                    <a:bodyPr rtlCol="0"/>
                    <a:lstStyle/>
                    <a:p>
                      <a:pPr marL="0" indent="0" algn="ctr">
                        <a:lnSpc>
                          <a:spcPct val="100000"/>
                        </a:lnSpc>
                        <a:defRPr/>
                      </a:pPr>
                      <a:r>
                        <a:rPr lang="en-US" sz="13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4,165</a:t>
                      </a:r>
                      <a:endParaRPr lang="en-US" sz="1100"/>
                    </a:p>
                  </a:txBody>
                  <a:tcPr marL="101600" marR="101600" marT="101600" marB="101600" anchor="t" anchorCtr="0">
                    <a:lnL>
                      <a:noFill/>
                    </a:lnL>
                    <a:lnR>
                      <a:noFill/>
                    </a:lnR>
                    <a:lnT>
                      <a:noFill/>
                    </a:lnT>
                    <a:lnB>
                      <a:noFill/>
                    </a:lnB>
                    <a:solidFill>
                      <a:srgbClr val="FFFFFF">
                        <a:alpha val="5000"/>
                      </a:srgbClr>
                    </a:solidFill>
                  </a:tcPr>
                </a:tc>
                <a:tc>
                  <a:txBody>
                    <a:bodyPr rtlCol="0"/>
                    <a:lstStyle/>
                    <a:p>
                      <a:pPr marL="0" indent="0" algn="ctr">
                        <a:lnSpc>
                          <a:spcPct val="100000"/>
                        </a:lnSpc>
                        <a:defRPr/>
                      </a:pPr>
                      <a:r>
                        <a:rPr lang="en-US" sz="1300" b="1" i="0" u="none" strike="noStrike">
                          <a:solidFill>
                            <a:srgbClr val="FBBF24"/>
                          </a:solidFill>
                          <a:latin typeface="Noto Sans SC" panose="020B0200000000000000" charset="-122"/>
                          <a:ea typeface="Noto Sans SC" panose="020B0200000000000000" charset="-122"/>
                          <a:cs typeface="Noto Sans SC" panose="020B0200000000000000" charset="-122"/>
                          <a:sym typeface="Noto Sans SC" panose="020B0200000000000000" charset="-122"/>
                        </a:rPr>
                        <a:t>~42%</a:t>
                      </a:r>
                      <a:endParaRPr lang="en-US" sz="1100"/>
                    </a:p>
                  </a:txBody>
                  <a:tcPr marL="101600" marR="101600" marT="101600" marB="101600" anchor="t" anchorCtr="0">
                    <a:lnL>
                      <a:noFill/>
                    </a:lnL>
                    <a:lnR>
                      <a:noFill/>
                    </a:lnR>
                    <a:lnT>
                      <a:noFill/>
                    </a:lnT>
                    <a:lnB>
                      <a:noFill/>
                    </a:lnB>
                    <a:solidFill>
                      <a:srgbClr val="FFFFFF">
                        <a:alpha val="5000"/>
                      </a:srgbClr>
                    </a:solidFill>
                  </a:tcPr>
                </a:tc>
              </a:tr>
              <a:tr h="444500">
                <a:tc>
                  <a:txBody>
                    <a:bodyPr rtlCol="0"/>
                    <a:lstStyle/>
                    <a:p>
                      <a:pPr marL="0" indent="0" algn="ctr">
                        <a:lnSpc>
                          <a:spcPct val="100000"/>
                        </a:lnSpc>
                        <a:defRPr/>
                      </a:pPr>
                      <a:r>
                        <a:rPr lang="en-US" sz="13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三者交叉对比</a:t>
                      </a:r>
                      <a:endParaRPr lang="en-US" sz="1100"/>
                    </a:p>
                  </a:txBody>
                  <a:tcPr marL="101600" marR="101600" marT="101600" marB="101600" anchor="t" anchorCtr="0">
                    <a:lnL>
                      <a:noFill/>
                    </a:lnL>
                    <a:lnR>
                      <a:noFill/>
                    </a:lnR>
                    <a:lnT>
                      <a:noFill/>
                    </a:lnT>
                    <a:lnB>
                      <a:noFill/>
                    </a:lnB>
                    <a:solidFill>
                      <a:srgbClr val="FFFFFF">
                        <a:alpha val="5000"/>
                      </a:srgbClr>
                    </a:solidFill>
                  </a:tcPr>
                </a:tc>
                <a:tc>
                  <a:txBody>
                    <a:bodyPr rtlCol="0"/>
                    <a:lstStyle/>
                    <a:p>
                      <a:pPr marL="0" indent="0" algn="ctr">
                        <a:lnSpc>
                          <a:spcPct val="100000"/>
                        </a:lnSpc>
                        <a:defRPr/>
                      </a:pPr>
                      <a:r>
                        <a:rPr lang="en-US" sz="13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9,797</a:t>
                      </a:r>
                      <a:endParaRPr lang="en-US" sz="1100"/>
                    </a:p>
                  </a:txBody>
                  <a:tcPr marL="101600" marR="101600" marT="101600" marB="101600" anchor="t" anchorCtr="0">
                    <a:lnL>
                      <a:noFill/>
                    </a:lnL>
                    <a:lnR>
                      <a:noFill/>
                    </a:lnR>
                    <a:lnT>
                      <a:noFill/>
                    </a:lnT>
                    <a:lnB>
                      <a:noFill/>
                    </a:lnB>
                    <a:solidFill>
                      <a:srgbClr val="FFFFFF">
                        <a:alpha val="5000"/>
                      </a:srgbClr>
                    </a:solidFill>
                  </a:tcPr>
                </a:tc>
                <a:tc>
                  <a:txBody>
                    <a:bodyPr rtlCol="0"/>
                    <a:lstStyle/>
                    <a:p>
                      <a:pPr marL="0" indent="0" algn="ctr">
                        <a:lnSpc>
                          <a:spcPct val="100000"/>
                        </a:lnSpc>
                        <a:defRPr/>
                      </a:pPr>
                      <a:r>
                        <a:rPr lang="en-US" sz="1300" b="1" i="0" u="none" strike="noStrike">
                          <a:solidFill>
                            <a:srgbClr val="EF4444"/>
                          </a:solidFill>
                          <a:latin typeface="Noto Sans SC" panose="020B0200000000000000" charset="-122"/>
                          <a:ea typeface="Noto Sans SC" panose="020B0200000000000000" charset="-122"/>
                          <a:cs typeface="Noto Sans SC" panose="020B0200000000000000" charset="-122"/>
                          <a:sym typeface="Noto Sans SC" panose="020B0200000000000000" charset="-122"/>
                        </a:rPr>
                        <a:t>4,173</a:t>
                      </a:r>
                      <a:endParaRPr lang="en-US" sz="1100"/>
                    </a:p>
                  </a:txBody>
                  <a:tcPr marL="101600" marR="101600" marT="101600" marB="101600" anchor="t" anchorCtr="0">
                    <a:lnL>
                      <a:noFill/>
                    </a:lnL>
                    <a:lnR>
                      <a:noFill/>
                    </a:lnR>
                    <a:lnT>
                      <a:noFill/>
                    </a:lnT>
                    <a:lnB>
                      <a:noFill/>
                    </a:lnB>
                    <a:solidFill>
                      <a:srgbClr val="FFFFFF">
                        <a:alpha val="5000"/>
                      </a:srgbClr>
                    </a:solidFill>
                  </a:tcPr>
                </a:tc>
                <a:tc>
                  <a:txBody>
                    <a:bodyPr rtlCol="0"/>
                    <a:lstStyle/>
                    <a:p>
                      <a:pPr marL="0" indent="0" algn="ctr">
                        <a:lnSpc>
                          <a:spcPct val="100000"/>
                        </a:lnSpc>
                        <a:defRPr/>
                      </a:pPr>
                      <a:r>
                        <a:rPr lang="en-US" sz="1300" b="1" i="0" u="none" strike="noStrike">
                          <a:solidFill>
                            <a:srgbClr val="EF4444"/>
                          </a:solidFill>
                          <a:latin typeface="Noto Sans SC" panose="020B0200000000000000" charset="-122"/>
                          <a:ea typeface="Noto Sans SC" panose="020B0200000000000000" charset="-122"/>
                          <a:cs typeface="Noto Sans SC" panose="020B0200000000000000" charset="-122"/>
                          <a:sym typeface="Noto Sans SC" panose="020B0200000000000000" charset="-122"/>
                        </a:rPr>
                        <a:t>~43%</a:t>
                      </a:r>
                      <a:endParaRPr lang="en-US" sz="1100"/>
                    </a:p>
                  </a:txBody>
                  <a:tcPr marL="101600" marR="101600" marT="101600" marB="101600" anchor="t" anchorCtr="0">
                    <a:lnL>
                      <a:noFill/>
                    </a:lnL>
                    <a:lnR>
                      <a:noFill/>
                    </a:lnR>
                    <a:lnT>
                      <a:noFill/>
                    </a:lnT>
                    <a:lnB>
                      <a:noFill/>
                    </a:lnB>
                    <a:solidFill>
                      <a:srgbClr val="FFFFFF">
                        <a:alpha val="5000"/>
                      </a:srgbClr>
                    </a:solidFill>
                  </a:tcPr>
                </a:tc>
              </a:tr>
            </a:tbl>
          </a:graphicData>
        </a:graphic>
      </p:graphicFrame>
      <p:sp>
        <p:nvSpPr>
          <p:cNvPr id="7" name="AutoShape 7"/>
          <p:cNvSpPr/>
          <p:nvPr/>
        </p:nvSpPr>
        <p:spPr>
          <a:xfrm>
            <a:off x="762000" y="4445000"/>
            <a:ext cx="10668000" cy="1016000"/>
          </a:xfrm>
          <a:prstGeom prst="roundRect">
            <a:avLst>
              <a:gd name="adj" fmla="val 0"/>
            </a:avLst>
          </a:prstGeom>
          <a:solidFill>
            <a:srgbClr val="FFFFFF">
              <a:alpha val="8000"/>
            </a:srgbClr>
          </a:solidFill>
          <a:ln w="12700" cap="flat" cmpd="sng">
            <a:solidFill>
              <a:srgbClr val="34D399">
                <a:alpha val="20000"/>
              </a:srgbClr>
            </a:solidFill>
            <a:prstDash val="solid"/>
            <a:round/>
          </a:ln>
        </p:spPr>
        <p:txBody>
          <a:bodyPr vert="horz" wrap="square" lIns="63500" tIns="63500" rIns="63500" bIns="63500" rtlCol="0" anchor="ctr"/>
          <a:lstStyle/>
          <a:p>
            <a:pPr algn="ctr">
              <a:defRPr/>
            </a:pPr>
          </a:p>
        </p:txBody>
      </p:sp>
      <p:sp>
        <p:nvSpPr>
          <p:cNvPr id="8" name="AutoShape 8"/>
          <p:cNvSpPr/>
          <p:nvPr/>
        </p:nvSpPr>
        <p:spPr>
          <a:xfrm>
            <a:off x="762000" y="4445000"/>
            <a:ext cx="1270000" cy="304800"/>
          </a:xfrm>
          <a:prstGeom prst="roundRect">
            <a:avLst>
              <a:gd name="adj" fmla="val 0"/>
            </a:avLst>
          </a:prstGeom>
          <a:solidFill>
            <a:srgbClr val="34D399">
              <a:alpha val="100000"/>
            </a:srgbClr>
          </a:solidFill>
          <a:ln w="25400" cap="flat" cmpd="sng">
            <a:noFill/>
            <a:prstDash val="solid"/>
            <a:round/>
          </a:ln>
        </p:spPr>
        <p:txBody>
          <a:bodyPr vert="horz" wrap="square" lIns="0" tIns="0" rIns="0" bIns="0" rtlCol="0" anchor="ctr" anchorCtr="0"/>
          <a:lstStyle/>
          <a:p>
            <a:pPr marL="0" indent="0" algn="ctr">
              <a:lnSpc>
                <a:spcPct val="125000"/>
              </a:lnSpc>
              <a:defRPr/>
            </a:pPr>
            <a:r>
              <a:rPr lang="en-US" sz="12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典型差异</a:t>
            </a:r>
            <a:endParaRPr lang="en-US" sz="1100"/>
          </a:p>
        </p:txBody>
      </p:sp>
      <p:sp>
        <p:nvSpPr>
          <p:cNvPr id="9" name="AutoShape 9"/>
          <p:cNvSpPr/>
          <p:nvPr/>
        </p:nvSpPr>
        <p:spPr>
          <a:xfrm>
            <a:off x="952500" y="4826000"/>
            <a:ext cx="2540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测试表达式：</a:t>
            </a:r>
            <a:br>
              <a:rPr lang="en-US" sz="13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1"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calc(0.813987rem * 1px)</a:t>
            </a:r>
            <a:endParaRPr lang="en-US" sz="1100"/>
          </a:p>
        </p:txBody>
      </p:sp>
      <p:cxnSp>
        <p:nvCxnSpPr>
          <p:cNvPr id="10" name="Connector 10"/>
          <p:cNvCxnSpPr/>
          <p:nvPr/>
        </p:nvCxnSpPr>
        <p:spPr>
          <a:xfrm rot="5331254">
            <a:off x="3238500" y="4946713"/>
            <a:ext cx="6350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11" name="AutoShape 11"/>
          <p:cNvSpPr/>
          <p:nvPr/>
        </p:nvSpPr>
        <p:spPr>
          <a:xfrm>
            <a:off x="3683000" y="4762500"/>
            <a:ext cx="2286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Chrome:</a:t>
            </a:r>
            <a:r>
              <a:rPr lang="en-US" sz="13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0.8125px</a:t>
            </a:r>
            <a:br>
              <a:rPr lang="en-US" sz="13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(二进制精度截断)</a:t>
            </a:r>
            <a:endParaRPr lang="en-US" sz="1100"/>
          </a:p>
        </p:txBody>
      </p:sp>
      <p:cxnSp>
        <p:nvCxnSpPr>
          <p:cNvPr id="12" name="Connector 12"/>
          <p:cNvCxnSpPr/>
          <p:nvPr/>
        </p:nvCxnSpPr>
        <p:spPr>
          <a:xfrm rot="5331254">
            <a:off x="5778500" y="4946713"/>
            <a:ext cx="6350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13" name="AutoShape 13"/>
          <p:cNvSpPr/>
          <p:nvPr/>
        </p:nvSpPr>
        <p:spPr>
          <a:xfrm>
            <a:off x="6223000" y="4762500"/>
            <a:ext cx="2286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Edge:</a:t>
            </a:r>
            <a:r>
              <a:rPr lang="en-US" sz="13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0.81px</a:t>
            </a:r>
            <a:br>
              <a:rPr lang="en-US" sz="13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(十进制四舍五入)</a:t>
            </a:r>
            <a:endParaRPr lang="en-US" sz="1100"/>
          </a:p>
        </p:txBody>
      </p:sp>
      <p:cxnSp>
        <p:nvCxnSpPr>
          <p:cNvPr id="14" name="Connector 14"/>
          <p:cNvCxnSpPr/>
          <p:nvPr/>
        </p:nvCxnSpPr>
        <p:spPr>
          <a:xfrm rot="5331254">
            <a:off x="8255000" y="4946713"/>
            <a:ext cx="6350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15" name="AutoShape 15"/>
          <p:cNvSpPr/>
          <p:nvPr/>
        </p:nvSpPr>
        <p:spPr>
          <a:xfrm>
            <a:off x="8699500" y="4762500"/>
            <a:ext cx="2413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Firefox:</a:t>
            </a:r>
            <a:r>
              <a:rPr lang="en-US" sz="13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0.816667px</a:t>
            </a:r>
            <a:br>
              <a:rPr lang="en-US" sz="13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(更高浮点精度保留)</a:t>
            </a:r>
            <a:endParaRPr lang="en-US" sz="1100"/>
          </a:p>
        </p:txBody>
      </p:sp>
      <p:sp>
        <p:nvSpPr>
          <p:cNvPr id="16" name="AutoShape 16"/>
          <p:cNvSpPr/>
          <p:nvPr/>
        </p:nvSpPr>
        <p:spPr>
          <a:xfrm>
            <a:off x="762000" y="5651500"/>
            <a:ext cx="10668000" cy="762000"/>
          </a:xfrm>
          <a:prstGeom prst="roundRect">
            <a:avLst>
              <a:gd name="adj" fmla="val 0"/>
            </a:avLst>
          </a:prstGeom>
          <a:solidFill>
            <a:srgbClr val="34D399">
              <a:alpha val="15000"/>
            </a:srgbClr>
          </a:solidFill>
          <a:ln w="12700" cap="flat" cmpd="sng">
            <a:solidFill>
              <a:srgbClr val="34D399">
                <a:alpha val="40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762000" y="5651500"/>
            <a:ext cx="76200" cy="7620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1016000" y="5753100"/>
            <a:ext cx="10287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结论：</a:t>
            </a:r>
            <a:r>
              <a:rPr lang="en-US" sz="1400" b="0" i="0" u="none" strike="noStrike">
                <a:solidFill>
                  <a:srgbClr val="F3F4F6"/>
                </a:solidFill>
                <a:latin typeface="Noto Sans SC" panose="020B0200000000000000" charset="-122"/>
                <a:ea typeface="Noto Sans SC" panose="020B0200000000000000" charset="-122"/>
                <a:cs typeface="Noto Sans SC" panose="020B0200000000000000" charset="-122"/>
                <a:sym typeface="Noto Sans SC" panose="020B0200000000000000" charset="-122"/>
              </a:rPr>
              <a:t>CSS数值计算差异是一种高辨识度的浏览器指纹特征。Firefox与Chromium系（Chrome/Edge）在底层浮点运算逻辑上存在显著且稳定的系统性偏差，可作为区分浏览器内核与版本的有效依据。</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2794000"/>
            <a:ext cx="12192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endParaRPr lang="en-US" sz="1100"/>
          </a:p>
        </p:txBody>
      </p:sp>
      <p:pic>
        <p:nvPicPr>
          <p:cNvPr id="6" name="图片 5"/>
          <p:cNvPicPr>
            <a:picLocks noChangeAspect="1"/>
          </p:cNvPicPr>
          <p:nvPr/>
        </p:nvPicPr>
        <p:blipFill>
          <a:blip r:embed="rId2"/>
          <a:stretch>
            <a:fillRect/>
          </a:stretch>
        </p:blipFill>
        <p:spPr>
          <a:xfrm>
            <a:off x="688975" y="1247775"/>
            <a:ext cx="5196840" cy="4671060"/>
          </a:xfrm>
          <a:prstGeom prst="rect">
            <a:avLst/>
          </a:prstGeom>
        </p:spPr>
      </p:pic>
      <p:pic>
        <p:nvPicPr>
          <p:cNvPr id="7" name="图片 6"/>
          <p:cNvPicPr>
            <a:picLocks noChangeAspect="1"/>
          </p:cNvPicPr>
          <p:nvPr/>
        </p:nvPicPr>
        <p:blipFill>
          <a:blip r:embed="rId3"/>
          <a:stretch>
            <a:fillRect/>
          </a:stretch>
        </p:blipFill>
        <p:spPr>
          <a:xfrm>
            <a:off x="6309995" y="1240155"/>
            <a:ext cx="5765800" cy="467868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0160000" y="-1016000"/>
            <a:ext cx="2794000" cy="2794000"/>
          </a:xfrm>
          <a:prstGeom prst="ellipse">
            <a:avLst/>
          </a:prstGeom>
          <a:solidFill>
            <a:srgbClr val="34D399">
              <a:alpha val="1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1270000" y="4826000"/>
            <a:ext cx="3556000" cy="3556000"/>
          </a:xfrm>
          <a:prstGeom prst="ellipse">
            <a:avLst/>
          </a:prstGeom>
          <a:solidFill>
            <a:srgbClr val="34D399">
              <a:alpha val="1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0" y="2794000"/>
            <a:ext cx="12192000" cy="1143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02 </a:t>
            </a:r>
            <a:r>
              <a:rPr lang="zh-CN" altLang="en-US" sz="4000" b="1">
                <a:solidFill>
                  <a:srgbClr val="FFFFFF"/>
                </a:solidFill>
                <a:latin typeface="Noto Sans SC" panose="020B0200000000000000" charset="-122"/>
                <a:ea typeface="Noto Sans SC" panose="020B0200000000000000" charset="-122"/>
                <a:cs typeface="Noto Sans SC" panose="020B0200000000000000" charset="-122"/>
                <a:sym typeface="+mn-ea"/>
              </a:rPr>
              <a:t>主要测试策略</a:t>
            </a:r>
            <a:endParaRPr lang="en-US" sz="1100"/>
          </a:p>
        </p:txBody>
      </p:sp>
      <p:sp>
        <p:nvSpPr>
          <p:cNvPr id="6" name="AutoShape 6"/>
          <p:cNvSpPr/>
          <p:nvPr/>
        </p:nvSpPr>
        <p:spPr>
          <a:xfrm>
            <a:off x="5207000" y="4254500"/>
            <a:ext cx="1778000" cy="508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1270000" y="4953000"/>
            <a:ext cx="9652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a:solidFill>
                  <a:srgbClr val="D1D5D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搭建标准化的实验环境，制定严谨的实验流程与数据采集方法，确保结果的可靠性</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571500" y="10795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02 </a:t>
            </a:r>
            <a:r>
              <a:rPr lang="zh-CN" altLang="en-US" sz="32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主要测试</a:t>
            </a:r>
            <a:r>
              <a:rPr lang="zh-CN" altLang="en-US" sz="32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策略</a:t>
            </a:r>
            <a:endParaRPr lang="zh-CN" altLang="en-US" sz="32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 name="AutoShape 4"/>
          <p:cNvSpPr/>
          <p:nvPr>
            <p:custDataLst>
              <p:tags r:id="rId2"/>
            </p:custDataLst>
          </p:nvPr>
        </p:nvSpPr>
        <p:spPr>
          <a:xfrm>
            <a:off x="1311910" y="2070735"/>
            <a:ext cx="2603500" cy="1968500"/>
          </a:xfrm>
          <a:prstGeom prst="roundRect">
            <a:avLst>
              <a:gd name="adj" fmla="val 0"/>
            </a:avLst>
          </a:prstGeom>
          <a:solidFill>
            <a:srgbClr val="34D399">
              <a:alpha val="8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p>
        </p:txBody>
      </p:sp>
      <p:sp>
        <p:nvSpPr>
          <p:cNvPr id="5" name="AutoShape 5"/>
          <p:cNvSpPr/>
          <p:nvPr>
            <p:custDataLst>
              <p:tags r:id="rId3"/>
            </p:custDataLst>
          </p:nvPr>
        </p:nvSpPr>
        <p:spPr>
          <a:xfrm>
            <a:off x="1502410" y="2261235"/>
            <a:ext cx="50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34D399">
                    <a:alpha val="5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endParaRPr lang="en-US" sz="1100"/>
          </a:p>
        </p:txBody>
      </p:sp>
      <p:pic>
        <p:nvPicPr>
          <p:cNvPr id="6" name="Picture 6"/>
          <p:cNvPicPr>
            <a:picLocks noChangeAspect="1"/>
          </p:cNvPicPr>
          <p:nvPr>
            <p:custDataLst>
              <p:tags r:id="rId4"/>
            </p:custDataLst>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343910" y="2261235"/>
            <a:ext cx="304800" cy="304800"/>
          </a:xfrm>
          <a:prstGeom prst="rect">
            <a:avLst/>
          </a:prstGeom>
        </p:spPr>
      </p:pic>
      <p:sp>
        <p:nvSpPr>
          <p:cNvPr id="7" name="AutoShape 7"/>
          <p:cNvSpPr/>
          <p:nvPr>
            <p:custDataLst>
              <p:tags r:id="rId7"/>
            </p:custDataLst>
          </p:nvPr>
        </p:nvSpPr>
        <p:spPr>
          <a:xfrm>
            <a:off x="1502410" y="3150235"/>
            <a:ext cx="22225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a:solidFill>
                  <a:srgbClr val="FFFFFF"/>
                </a:solidFill>
                <a:latin typeface="Noto Sans SC" panose="020B0200000000000000" charset="-122"/>
                <a:ea typeface="Noto Sans SC" panose="020B0200000000000000" charset="-122"/>
                <a:cs typeface="Noto Sans SC" panose="020B0200000000000000" charset="-122"/>
              </a:rPr>
              <a:t>浏览器页面或扩展</a:t>
            </a:r>
            <a:endParaRPr lang="en-US" sz="1600" b="1">
              <a:solidFill>
                <a:srgbClr val="FFFFFF"/>
              </a:solidFill>
              <a:latin typeface="Noto Sans SC" panose="020B0200000000000000" charset="-122"/>
              <a:ea typeface="Noto Sans SC" panose="020B0200000000000000" charset="-122"/>
              <a:cs typeface="Noto Sans SC" panose="020B0200000000000000" charset="-122"/>
            </a:endParaRPr>
          </a:p>
        </p:txBody>
      </p:sp>
      <p:sp>
        <p:nvSpPr>
          <p:cNvPr id="9" name="AutoShape 9"/>
          <p:cNvSpPr/>
          <p:nvPr>
            <p:custDataLst>
              <p:tags r:id="rId8"/>
            </p:custDataLst>
          </p:nvPr>
        </p:nvSpPr>
        <p:spPr>
          <a:xfrm>
            <a:off x="4973955" y="2070735"/>
            <a:ext cx="2603500" cy="1968500"/>
          </a:xfrm>
          <a:prstGeom prst="roundRect">
            <a:avLst>
              <a:gd name="adj" fmla="val 0"/>
            </a:avLst>
          </a:prstGeom>
          <a:solidFill>
            <a:srgbClr val="34D399">
              <a:alpha val="8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p>
        </p:txBody>
      </p:sp>
      <p:sp>
        <p:nvSpPr>
          <p:cNvPr id="10" name="AutoShape 10"/>
          <p:cNvSpPr/>
          <p:nvPr>
            <p:custDataLst>
              <p:tags r:id="rId9"/>
            </p:custDataLst>
          </p:nvPr>
        </p:nvSpPr>
        <p:spPr>
          <a:xfrm>
            <a:off x="5037455" y="2261235"/>
            <a:ext cx="50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34D399">
                    <a:alpha val="5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endParaRPr lang="en-US" sz="1100"/>
          </a:p>
        </p:txBody>
      </p:sp>
      <p:pic>
        <p:nvPicPr>
          <p:cNvPr id="11" name="Picture 11"/>
          <p:cNvPicPr>
            <a:picLocks noChangeAspect="1"/>
          </p:cNvPicPr>
          <p:nvPr>
            <p:custDataLst>
              <p:tags r:id="rId10"/>
            </p:custDataLst>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878955" y="2261235"/>
            <a:ext cx="304800" cy="304800"/>
          </a:xfrm>
          <a:prstGeom prst="rect">
            <a:avLst/>
          </a:prstGeom>
        </p:spPr>
      </p:pic>
      <p:sp>
        <p:nvSpPr>
          <p:cNvPr id="12" name="AutoShape 12"/>
          <p:cNvSpPr/>
          <p:nvPr>
            <p:custDataLst>
              <p:tags r:id="rId13"/>
            </p:custDataLst>
          </p:nvPr>
        </p:nvSpPr>
        <p:spPr>
          <a:xfrm>
            <a:off x="5151755" y="3156585"/>
            <a:ext cx="2222500" cy="317500"/>
          </a:xfrm>
          <a:prstGeom prst="rect">
            <a:avLst/>
          </a:prstGeom>
          <a:noFill/>
          <a:ln w="12700" cap="flat" cmpd="sng">
            <a:noFill/>
            <a:prstDash val="solid"/>
            <a:round/>
          </a:ln>
        </p:spPr>
        <p:txBody>
          <a:bodyPr vert="horz" wrap="square" lIns="0" tIns="0" rIns="0" bIns="0" rtlCol="0" anchor="ctr" anchorCtr="0">
            <a:noAutofit/>
          </a:bodyPr>
          <a:lstStyle/>
          <a:p>
            <a:pPr lvl="0" algn="l">
              <a:lnSpc>
                <a:spcPct val="125000"/>
              </a:lnSpc>
              <a:buSzTx/>
              <a:defRPr/>
            </a:pPr>
            <a:r>
              <a:rPr lang="en-US" sz="1600" b="1">
                <a:solidFill>
                  <a:srgbClr val="FFFFFF"/>
                </a:solidFill>
                <a:latin typeface="Noto Sans SC" panose="020B0200000000000000" charset="-122"/>
                <a:ea typeface="Noto Sans SC" panose="020B0200000000000000" charset="-122"/>
                <a:cs typeface="Noto Sans SC" panose="020B0200000000000000" charset="-122"/>
                <a:sym typeface="+mn-ea"/>
              </a:rPr>
              <a:t>CSS </a:t>
            </a:r>
            <a:r>
              <a:rPr lang="en-US" sz="1600" b="1">
                <a:solidFill>
                  <a:srgbClr val="FFFFFF"/>
                </a:solidFill>
                <a:latin typeface="Noto Sans SC" panose="020B0200000000000000" charset="-122"/>
                <a:ea typeface="Noto Sans SC" panose="020B0200000000000000" charset="-122"/>
                <a:cs typeface="Noto Sans SC" panose="020B0200000000000000" charset="-122"/>
                <a:sym typeface="+mn-ea"/>
              </a:rPr>
              <a:t>指纹采集</a:t>
            </a:r>
            <a:endParaRPr lang="en-US" sz="1600" b="1">
              <a:solidFill>
                <a:srgbClr val="FFFFFF"/>
              </a:solidFill>
              <a:latin typeface="Noto Sans SC" panose="020B0200000000000000" charset="-122"/>
              <a:ea typeface="Noto Sans SC" panose="020B0200000000000000" charset="-122"/>
              <a:cs typeface="Noto Sans SC" panose="020B0200000000000000" charset="-122"/>
              <a:sym typeface="+mn-ea"/>
            </a:endParaRPr>
          </a:p>
        </p:txBody>
      </p:sp>
      <p:sp>
        <p:nvSpPr>
          <p:cNvPr id="14" name="AutoShape 14"/>
          <p:cNvSpPr/>
          <p:nvPr>
            <p:custDataLst>
              <p:tags r:id="rId14"/>
            </p:custDataLst>
          </p:nvPr>
        </p:nvSpPr>
        <p:spPr>
          <a:xfrm>
            <a:off x="8636000" y="2007235"/>
            <a:ext cx="2603500" cy="1968500"/>
          </a:xfrm>
          <a:prstGeom prst="roundRect">
            <a:avLst>
              <a:gd name="adj" fmla="val 0"/>
            </a:avLst>
          </a:prstGeom>
          <a:solidFill>
            <a:srgbClr val="34D399">
              <a:alpha val="8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p>
        </p:txBody>
      </p:sp>
      <p:sp>
        <p:nvSpPr>
          <p:cNvPr id="15" name="AutoShape 15"/>
          <p:cNvSpPr/>
          <p:nvPr>
            <p:custDataLst>
              <p:tags r:id="rId15"/>
            </p:custDataLst>
          </p:nvPr>
        </p:nvSpPr>
        <p:spPr>
          <a:xfrm>
            <a:off x="8826500" y="2197735"/>
            <a:ext cx="50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34D399">
                    <a:alpha val="5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endParaRPr lang="en-US" sz="1100"/>
          </a:p>
        </p:txBody>
      </p:sp>
      <p:pic>
        <p:nvPicPr>
          <p:cNvPr id="16" name="Picture 16"/>
          <p:cNvPicPr>
            <a:picLocks noChangeAspect="1"/>
          </p:cNvPicPr>
          <p:nvPr>
            <p:custDataLst>
              <p:tags r:id="rId16"/>
            </p:custDataLst>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10668000" y="2197735"/>
            <a:ext cx="304800" cy="304800"/>
          </a:xfrm>
          <a:prstGeom prst="rect">
            <a:avLst/>
          </a:prstGeom>
        </p:spPr>
      </p:pic>
      <p:sp>
        <p:nvSpPr>
          <p:cNvPr id="17" name="AutoShape 17"/>
          <p:cNvSpPr/>
          <p:nvPr>
            <p:custDataLst>
              <p:tags r:id="rId19"/>
            </p:custDataLst>
          </p:nvPr>
        </p:nvSpPr>
        <p:spPr>
          <a:xfrm>
            <a:off x="8801100" y="3086735"/>
            <a:ext cx="22225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a:solidFill>
                  <a:srgbClr val="FFFFFF"/>
                </a:solidFill>
                <a:latin typeface="Noto Sans SC" panose="020B0200000000000000" charset="-122"/>
                <a:ea typeface="Noto Sans SC" panose="020B0200000000000000" charset="-122"/>
                <a:cs typeface="Noto Sans SC" panose="020B0200000000000000" charset="-122"/>
              </a:rPr>
              <a:t>Flask 服</a:t>
            </a:r>
            <a:r>
              <a:rPr lang="en-US" sz="1600" b="1">
                <a:solidFill>
                  <a:srgbClr val="FFFFFF"/>
                </a:solidFill>
                <a:latin typeface="Noto Sans SC" panose="020B0200000000000000" charset="-122"/>
                <a:ea typeface="Noto Sans SC" panose="020B0200000000000000" charset="-122"/>
                <a:cs typeface="Noto Sans SC" panose="020B0200000000000000" charset="-122"/>
              </a:rPr>
              <a:t>务接口</a:t>
            </a:r>
            <a:endParaRPr lang="en-US" sz="1600" b="1">
              <a:solidFill>
                <a:srgbClr val="FFFFFF"/>
              </a:solidFill>
              <a:latin typeface="Noto Sans SC" panose="020B0200000000000000" charset="-122"/>
              <a:ea typeface="Noto Sans SC" panose="020B0200000000000000" charset="-122"/>
              <a:cs typeface="Noto Sans SC" panose="020B0200000000000000" charset="-122"/>
            </a:endParaRPr>
          </a:p>
        </p:txBody>
      </p:sp>
      <p:sp>
        <p:nvSpPr>
          <p:cNvPr id="19" name="AutoShape 19"/>
          <p:cNvSpPr/>
          <p:nvPr>
            <p:custDataLst>
              <p:tags r:id="rId20"/>
            </p:custDataLst>
          </p:nvPr>
        </p:nvSpPr>
        <p:spPr>
          <a:xfrm>
            <a:off x="1800225" y="4150995"/>
            <a:ext cx="3858260" cy="1968500"/>
          </a:xfrm>
          <a:prstGeom prst="roundRect">
            <a:avLst>
              <a:gd name="adj" fmla="val 0"/>
            </a:avLst>
          </a:prstGeom>
          <a:solidFill>
            <a:srgbClr val="34D399">
              <a:alpha val="8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p>
        </p:txBody>
      </p:sp>
      <p:sp>
        <p:nvSpPr>
          <p:cNvPr id="20" name="AutoShape 20"/>
          <p:cNvSpPr/>
          <p:nvPr>
            <p:custDataLst>
              <p:tags r:id="rId21"/>
            </p:custDataLst>
          </p:nvPr>
        </p:nvSpPr>
        <p:spPr>
          <a:xfrm>
            <a:off x="3132455" y="4341495"/>
            <a:ext cx="50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34D399">
                    <a:alpha val="5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04</a:t>
            </a:r>
            <a:endParaRPr lang="en-US" sz="1100"/>
          </a:p>
        </p:txBody>
      </p:sp>
      <p:pic>
        <p:nvPicPr>
          <p:cNvPr id="21" name="Picture 21"/>
          <p:cNvPicPr>
            <a:picLocks noChangeAspect="1"/>
          </p:cNvPicPr>
          <p:nvPr>
            <p:custDataLst>
              <p:tags r:id="rId22"/>
            </p:custDataLst>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4973955" y="4341495"/>
            <a:ext cx="304800" cy="304800"/>
          </a:xfrm>
          <a:prstGeom prst="rect">
            <a:avLst/>
          </a:prstGeom>
        </p:spPr>
      </p:pic>
      <p:sp>
        <p:nvSpPr>
          <p:cNvPr id="22" name="AutoShape 22"/>
          <p:cNvSpPr/>
          <p:nvPr>
            <p:custDataLst>
              <p:tags r:id="rId25"/>
            </p:custDataLst>
          </p:nvPr>
        </p:nvSpPr>
        <p:spPr>
          <a:xfrm>
            <a:off x="3132455" y="5230495"/>
            <a:ext cx="22225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a:solidFill>
                  <a:srgbClr val="FFFFFF"/>
                </a:solidFill>
                <a:latin typeface="Noto Sans SC" panose="020B0200000000000000" charset="-122"/>
                <a:ea typeface="Noto Sans SC" panose="020B0200000000000000" charset="-122"/>
                <a:cs typeface="Noto Sans SC" panose="020B0200000000000000" charset="-122"/>
              </a:rPr>
              <a:t>JSON/TXT 报告</a:t>
            </a:r>
            <a:endParaRPr lang="zh-CN" altLang="en-US" sz="1100"/>
          </a:p>
        </p:txBody>
      </p:sp>
      <p:sp>
        <p:nvSpPr>
          <p:cNvPr id="24" name="AutoShape 24"/>
          <p:cNvSpPr/>
          <p:nvPr>
            <p:custDataLst>
              <p:tags r:id="rId26"/>
            </p:custDataLst>
          </p:nvPr>
        </p:nvSpPr>
        <p:spPr>
          <a:xfrm>
            <a:off x="7007225" y="4214495"/>
            <a:ext cx="3378200" cy="1968500"/>
          </a:xfrm>
          <a:prstGeom prst="roundRect">
            <a:avLst>
              <a:gd name="adj" fmla="val 0"/>
            </a:avLst>
          </a:prstGeom>
          <a:solidFill>
            <a:srgbClr val="34D399">
              <a:alpha val="8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p>
        </p:txBody>
      </p:sp>
      <p:sp>
        <p:nvSpPr>
          <p:cNvPr id="25" name="AutoShape 25"/>
          <p:cNvSpPr/>
          <p:nvPr>
            <p:custDataLst>
              <p:tags r:id="rId27"/>
            </p:custDataLst>
          </p:nvPr>
        </p:nvSpPr>
        <p:spPr>
          <a:xfrm>
            <a:off x="7197725" y="4404995"/>
            <a:ext cx="50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34D399">
                    <a:alpha val="5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05</a:t>
            </a:r>
            <a:endParaRPr lang="en-US" sz="1100"/>
          </a:p>
        </p:txBody>
      </p:sp>
      <p:pic>
        <p:nvPicPr>
          <p:cNvPr id="26" name="Picture 26"/>
          <p:cNvPicPr>
            <a:picLocks noChangeAspect="1"/>
          </p:cNvPicPr>
          <p:nvPr>
            <p:custDataLst>
              <p:tags r:id="rId28"/>
            </p:custDataLst>
          </p:nvPr>
        </p:nvPicPr>
        <p:blipFill>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tretch>
            <a:fillRect/>
          </a:stretch>
        </p:blipFill>
        <p:spPr>
          <a:xfrm>
            <a:off x="9877425" y="4404995"/>
            <a:ext cx="304800" cy="304800"/>
          </a:xfrm>
          <a:prstGeom prst="rect">
            <a:avLst/>
          </a:prstGeom>
        </p:spPr>
      </p:pic>
      <p:sp>
        <p:nvSpPr>
          <p:cNvPr id="27" name="AutoShape 27"/>
          <p:cNvSpPr/>
          <p:nvPr>
            <p:custDataLst>
              <p:tags r:id="rId31"/>
            </p:custDataLst>
          </p:nvPr>
        </p:nvSpPr>
        <p:spPr>
          <a:xfrm>
            <a:off x="7197725" y="5082540"/>
            <a:ext cx="2997200" cy="317500"/>
          </a:xfrm>
          <a:prstGeom prst="rect">
            <a:avLst/>
          </a:prstGeom>
          <a:noFill/>
          <a:ln w="12700" cap="flat" cmpd="sng">
            <a:noFill/>
            <a:prstDash val="solid"/>
            <a:round/>
          </a:ln>
        </p:spPr>
        <p:txBody>
          <a:bodyPr vert="horz" wrap="square" lIns="0" tIns="0" rIns="0" bIns="0" rtlCol="0" anchor="ctr" anchorCtr="0">
            <a:noAutofit/>
          </a:bodyPr>
          <a:lstStyle/>
          <a:p>
            <a:pPr lvl="0" algn="l">
              <a:lnSpc>
                <a:spcPct val="125000"/>
              </a:lnSpc>
              <a:buSzTx/>
              <a:defRPr/>
            </a:pPr>
            <a:r>
              <a:rPr lang="en-US" sz="1600" b="1">
                <a:solidFill>
                  <a:srgbClr val="FFFFFF"/>
                </a:solidFill>
                <a:latin typeface="Noto Sans SC" panose="020B0200000000000000" charset="-122"/>
                <a:ea typeface="Noto Sans SC" panose="020B0200000000000000" charset="-122"/>
                <a:cs typeface="Noto Sans SC" panose="020B0200000000000000" charset="-122"/>
                <a:sym typeface="+mn-ea"/>
              </a:rPr>
              <a:t>结果比对与缺陷记录</a:t>
            </a:r>
            <a:endParaRPr lang="en-US" sz="1600" b="1">
              <a:solidFill>
                <a:srgbClr val="FFFFFF"/>
              </a:solidFill>
              <a:latin typeface="Noto Sans SC" panose="020B0200000000000000" charset="-122"/>
              <a:ea typeface="Noto Sans SC" panose="020B0200000000000000" charset="-122"/>
              <a:cs typeface="Noto Sans SC" panose="020B0200000000000000" charset="-122"/>
              <a:sym typeface="+mn-ea"/>
            </a:endParaRPr>
          </a:p>
        </p:txBody>
      </p:sp>
      <p:sp>
        <p:nvSpPr>
          <p:cNvPr id="39" name="文本框 38"/>
          <p:cNvSpPr txBox="1"/>
          <p:nvPr/>
        </p:nvSpPr>
        <p:spPr>
          <a:xfrm>
            <a:off x="762000" y="814705"/>
            <a:ext cx="11543665" cy="953135"/>
          </a:xfrm>
          <a:prstGeom prst="rect">
            <a:avLst/>
          </a:prstGeom>
          <a:noFill/>
        </p:spPr>
        <p:txBody>
          <a:bodyPr wrap="square" rtlCol="0">
            <a:spAutoFit/>
          </a:bodyPr>
          <a:p>
            <a:r>
              <a:rPr lang="zh-CN" altLang="en-US">
                <a:solidFill>
                  <a:schemeClr val="bg1"/>
                </a:solidFill>
              </a:rPr>
              <a:t>本项目采用</a:t>
            </a:r>
            <a:r>
              <a:rPr lang="en-US" altLang="zh-CN">
                <a:solidFill>
                  <a:schemeClr val="bg1"/>
                </a:solidFill>
              </a:rPr>
              <a:t>“</a:t>
            </a:r>
            <a:r>
              <a:rPr lang="zh-CN" altLang="en-US">
                <a:solidFill>
                  <a:schemeClr val="bg1"/>
                </a:solidFill>
              </a:rPr>
              <a:t>风险导向、分层验证、场景驱动、证据闭环</a:t>
            </a:r>
            <a:r>
              <a:rPr lang="en-US" altLang="zh-CN">
                <a:solidFill>
                  <a:schemeClr val="bg1"/>
                </a:solidFill>
              </a:rPr>
              <a:t>”</a:t>
            </a:r>
            <a:r>
              <a:rPr lang="zh-CN" altLang="en-US">
                <a:solidFill>
                  <a:schemeClr val="bg1"/>
                </a:solidFill>
              </a:rPr>
              <a:t>的测试策略。测试重点不是单纯验证页面能否打开，而是验证以下三个核心问题：</a:t>
            </a:r>
            <a:endParaRPr lang="zh-CN" altLang="en-US">
              <a:solidFill>
                <a:schemeClr val="bg1"/>
              </a:solidFill>
            </a:endParaRPr>
          </a:p>
          <a:p>
            <a:r>
              <a:rPr lang="en-US" altLang="zh-CN">
                <a:solidFill>
                  <a:schemeClr val="bg1"/>
                </a:solidFill>
              </a:rPr>
              <a:t>- </a:t>
            </a:r>
            <a:r>
              <a:rPr lang="zh-CN" altLang="en-US">
                <a:solidFill>
                  <a:schemeClr val="bg1"/>
                </a:solidFill>
              </a:rPr>
              <a:t>浏览器是否能够稳定、准确地复现</a:t>
            </a:r>
            <a:r>
              <a:rPr lang="en-US" altLang="zh-CN">
                <a:solidFill>
                  <a:schemeClr val="bg1"/>
                </a:solidFill>
              </a:rPr>
              <a:t> CSS </a:t>
            </a:r>
            <a:r>
              <a:rPr lang="zh-CN" altLang="en-US">
                <a:solidFill>
                  <a:schemeClr val="bg1"/>
                </a:solidFill>
              </a:rPr>
              <a:t>指纹识别结果。</a:t>
            </a:r>
            <a:endParaRPr lang="zh-CN" altLang="en-US">
              <a:solidFill>
                <a:schemeClr val="bg1"/>
              </a:solidFill>
            </a:endParaRPr>
          </a:p>
          <a:p>
            <a:r>
              <a:rPr lang="en-US" altLang="zh-CN">
                <a:solidFill>
                  <a:schemeClr val="bg1"/>
                </a:solidFill>
              </a:rPr>
              <a:t>- </a:t>
            </a:r>
            <a:r>
              <a:rPr lang="zh-CN" altLang="en-US">
                <a:solidFill>
                  <a:schemeClr val="bg1"/>
                </a:solidFill>
              </a:rPr>
              <a:t>数据采集、接口处理和报告落盘是否完整可靠。</a:t>
            </a:r>
            <a:endParaRPr lang="zh-CN" altLang="en-US">
              <a:solidFill>
                <a:schemeClr val="bg1"/>
              </a:solidFill>
            </a:endParaRPr>
          </a:p>
          <a:p>
            <a:r>
              <a:rPr lang="en-US" altLang="zh-CN">
                <a:solidFill>
                  <a:schemeClr val="bg1"/>
                </a:solidFill>
              </a:rPr>
              <a:t>- </a:t>
            </a:r>
            <a:r>
              <a:rPr lang="zh-CN" altLang="en-US">
                <a:solidFill>
                  <a:schemeClr val="bg1"/>
                </a:solidFill>
              </a:rPr>
              <a:t>浏览器扩展是否能够削弱指纹识别，同时不改变页面原有显示效果。测试链路如下</a:t>
            </a:r>
            <a:r>
              <a:rPr lang="en-US" altLang="zh-CN">
                <a:solidFill>
                  <a:schemeClr val="bg1"/>
                </a:solidFill>
              </a:rPr>
              <a:t>:</a:t>
            </a:r>
            <a:endParaRPr lang="en-US" altLang="zh-CN">
              <a:solidFill>
                <a:schemeClr val="bg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571500" y="10795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02 </a:t>
            </a:r>
            <a:r>
              <a:rPr lang="zh-CN" altLang="en-US" sz="32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测试</a:t>
            </a:r>
            <a:r>
              <a:rPr lang="zh-CN" altLang="en-US" sz="32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范围</a:t>
            </a:r>
            <a:endParaRPr lang="zh-CN" altLang="en-US" sz="32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 name="AutoShape 4"/>
          <p:cNvSpPr/>
          <p:nvPr>
            <p:custDataLst>
              <p:tags r:id="rId2"/>
            </p:custDataLst>
          </p:nvPr>
        </p:nvSpPr>
        <p:spPr>
          <a:xfrm>
            <a:off x="618490" y="1444625"/>
            <a:ext cx="2603500" cy="1968500"/>
          </a:xfrm>
          <a:prstGeom prst="roundRect">
            <a:avLst>
              <a:gd name="adj" fmla="val 0"/>
            </a:avLst>
          </a:prstGeom>
          <a:solidFill>
            <a:srgbClr val="34D399">
              <a:alpha val="8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p>
        </p:txBody>
      </p:sp>
      <p:sp>
        <p:nvSpPr>
          <p:cNvPr id="5" name="AutoShape 5"/>
          <p:cNvSpPr/>
          <p:nvPr>
            <p:custDataLst>
              <p:tags r:id="rId3"/>
            </p:custDataLst>
          </p:nvPr>
        </p:nvSpPr>
        <p:spPr>
          <a:xfrm>
            <a:off x="808990" y="1635125"/>
            <a:ext cx="50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34D399">
                    <a:alpha val="5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endParaRPr lang="en-US" sz="1100"/>
          </a:p>
        </p:txBody>
      </p:sp>
      <p:pic>
        <p:nvPicPr>
          <p:cNvPr id="6" name="Picture 6"/>
          <p:cNvPicPr>
            <a:picLocks noChangeAspect="1"/>
          </p:cNvPicPr>
          <p:nvPr>
            <p:custDataLst>
              <p:tags r:id="rId4"/>
            </p:custDataLst>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650490" y="1635125"/>
            <a:ext cx="304800" cy="304800"/>
          </a:xfrm>
          <a:prstGeom prst="rect">
            <a:avLst/>
          </a:prstGeom>
        </p:spPr>
      </p:pic>
      <p:sp>
        <p:nvSpPr>
          <p:cNvPr id="7" name="AutoShape 7"/>
          <p:cNvSpPr/>
          <p:nvPr>
            <p:custDataLst>
              <p:tags r:id="rId7"/>
            </p:custDataLst>
          </p:nvPr>
        </p:nvSpPr>
        <p:spPr>
          <a:xfrm>
            <a:off x="808990" y="2524125"/>
            <a:ext cx="2222500" cy="317500"/>
          </a:xfrm>
          <a:prstGeom prst="rect">
            <a:avLst/>
          </a:prstGeom>
          <a:noFill/>
          <a:ln w="12700" cap="flat" cmpd="sng">
            <a:noFill/>
            <a:prstDash val="solid"/>
            <a:round/>
          </a:ln>
        </p:spPr>
        <p:txBody>
          <a:bodyPr vert="horz" wrap="square" lIns="0" tIns="0" rIns="0" bIns="0" rtlCol="0" anchor="ctr" anchorCtr="0">
            <a:noAutofit/>
          </a:bodyPr>
          <a:lstStyle/>
          <a:p>
            <a:pPr lvl="0" algn="l">
              <a:lnSpc>
                <a:spcPct val="125000"/>
              </a:lnSpc>
              <a:buSzTx/>
              <a:defRPr/>
            </a:pPr>
            <a:r>
              <a:rPr lang="zh-CN" altLang="en-US" sz="1600" b="1">
                <a:solidFill>
                  <a:srgbClr val="FFFFFF"/>
                </a:solidFill>
                <a:latin typeface="Noto Sans SC" panose="020B0200000000000000" charset="-122"/>
                <a:ea typeface="Noto Sans SC" panose="020B0200000000000000" charset="-122"/>
                <a:cs typeface="Noto Sans SC" panose="020B0200000000000000" charset="-122"/>
                <a:sym typeface="+mn-ea"/>
              </a:rPr>
              <a:t>env 实验：M1-16～M1-19。</a:t>
            </a:r>
            <a:endParaRPr lang="zh-CN" altLang="en-US" sz="1600" b="1">
              <a:solidFill>
                <a:srgbClr val="FFFFFF"/>
              </a:solidFill>
              <a:latin typeface="Noto Sans SC" panose="020B0200000000000000" charset="-122"/>
              <a:ea typeface="Noto Sans SC" panose="020B0200000000000000" charset="-122"/>
              <a:cs typeface="Noto Sans SC" panose="020B0200000000000000" charset="-122"/>
              <a:sym typeface="+mn-ea"/>
            </a:endParaRPr>
          </a:p>
        </p:txBody>
      </p:sp>
      <p:sp>
        <p:nvSpPr>
          <p:cNvPr id="9" name="AutoShape 9"/>
          <p:cNvSpPr/>
          <p:nvPr>
            <p:custDataLst>
              <p:tags r:id="rId8"/>
            </p:custDataLst>
          </p:nvPr>
        </p:nvSpPr>
        <p:spPr>
          <a:xfrm>
            <a:off x="3348990" y="1444625"/>
            <a:ext cx="2603500" cy="1968500"/>
          </a:xfrm>
          <a:prstGeom prst="roundRect">
            <a:avLst>
              <a:gd name="adj" fmla="val 0"/>
            </a:avLst>
          </a:prstGeom>
          <a:solidFill>
            <a:srgbClr val="34D399">
              <a:alpha val="8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p>
        </p:txBody>
      </p:sp>
      <p:sp>
        <p:nvSpPr>
          <p:cNvPr id="10" name="AutoShape 10"/>
          <p:cNvSpPr/>
          <p:nvPr>
            <p:custDataLst>
              <p:tags r:id="rId9"/>
            </p:custDataLst>
          </p:nvPr>
        </p:nvSpPr>
        <p:spPr>
          <a:xfrm>
            <a:off x="3539490" y="1635125"/>
            <a:ext cx="50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34D399">
                    <a:alpha val="5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endParaRPr lang="en-US" sz="1100"/>
          </a:p>
        </p:txBody>
      </p:sp>
      <p:pic>
        <p:nvPicPr>
          <p:cNvPr id="11" name="Picture 11"/>
          <p:cNvPicPr>
            <a:picLocks noChangeAspect="1"/>
          </p:cNvPicPr>
          <p:nvPr>
            <p:custDataLst>
              <p:tags r:id="rId10"/>
            </p:custDataLst>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5380990" y="1635125"/>
            <a:ext cx="304800" cy="304800"/>
          </a:xfrm>
          <a:prstGeom prst="rect">
            <a:avLst/>
          </a:prstGeom>
        </p:spPr>
      </p:pic>
      <p:sp>
        <p:nvSpPr>
          <p:cNvPr id="12" name="AutoShape 12"/>
          <p:cNvSpPr/>
          <p:nvPr>
            <p:custDataLst>
              <p:tags r:id="rId13"/>
            </p:custDataLst>
          </p:nvPr>
        </p:nvSpPr>
        <p:spPr>
          <a:xfrm>
            <a:off x="3488690" y="2524125"/>
            <a:ext cx="2222500" cy="317500"/>
          </a:xfrm>
          <a:prstGeom prst="rect">
            <a:avLst/>
          </a:prstGeom>
          <a:noFill/>
          <a:ln w="12700" cap="flat" cmpd="sng">
            <a:noFill/>
            <a:prstDash val="solid"/>
            <a:round/>
          </a:ln>
        </p:spPr>
        <p:txBody>
          <a:bodyPr vert="horz" wrap="square" lIns="0" tIns="0" rIns="0" bIns="0" rtlCol="0" anchor="ctr" anchorCtr="0">
            <a:noAutofit/>
          </a:bodyPr>
          <a:lstStyle/>
          <a:p>
            <a:pPr lvl="0" algn="l">
              <a:lnSpc>
                <a:spcPct val="125000"/>
              </a:lnSpc>
              <a:buSzTx/>
              <a:defRPr/>
            </a:pPr>
            <a:r>
              <a:rPr lang="zh-CN" altLang="en-US" sz="1600" b="1">
                <a:solidFill>
                  <a:srgbClr val="FFFFFF"/>
                </a:solidFill>
                <a:latin typeface="Noto Sans SC" panose="020B0200000000000000" charset="-122"/>
                <a:ea typeface="Noto Sans SC" panose="020B0200000000000000" charset="-122"/>
                <a:cs typeface="Noto Sans SC" panose="020B0200000000000000" charset="-122"/>
                <a:sym typeface="+mn-ea"/>
              </a:rPr>
              <a:t>props 实验：M1-20～M1-23。</a:t>
            </a:r>
            <a:endParaRPr lang="zh-CN" altLang="en-US" sz="1600" b="1">
              <a:solidFill>
                <a:srgbClr val="FFFFFF"/>
              </a:solidFill>
              <a:latin typeface="Noto Sans SC" panose="020B0200000000000000" charset="-122"/>
              <a:ea typeface="Noto Sans SC" panose="020B0200000000000000" charset="-122"/>
              <a:cs typeface="Noto Sans SC" panose="020B0200000000000000" charset="-122"/>
              <a:sym typeface="+mn-ea"/>
            </a:endParaRPr>
          </a:p>
        </p:txBody>
      </p:sp>
      <p:sp>
        <p:nvSpPr>
          <p:cNvPr id="14" name="AutoShape 14"/>
          <p:cNvSpPr/>
          <p:nvPr>
            <p:custDataLst>
              <p:tags r:id="rId14"/>
            </p:custDataLst>
          </p:nvPr>
        </p:nvSpPr>
        <p:spPr>
          <a:xfrm>
            <a:off x="6079490" y="1444625"/>
            <a:ext cx="2603500" cy="1968500"/>
          </a:xfrm>
          <a:prstGeom prst="roundRect">
            <a:avLst>
              <a:gd name="adj" fmla="val 0"/>
            </a:avLst>
          </a:prstGeom>
          <a:solidFill>
            <a:srgbClr val="34D399">
              <a:alpha val="8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p>
        </p:txBody>
      </p:sp>
      <p:sp>
        <p:nvSpPr>
          <p:cNvPr id="15" name="AutoShape 15"/>
          <p:cNvSpPr/>
          <p:nvPr>
            <p:custDataLst>
              <p:tags r:id="rId15"/>
            </p:custDataLst>
          </p:nvPr>
        </p:nvSpPr>
        <p:spPr>
          <a:xfrm>
            <a:off x="6269990" y="1635125"/>
            <a:ext cx="50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34D399">
                    <a:alpha val="5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endParaRPr lang="en-US" sz="1100"/>
          </a:p>
        </p:txBody>
      </p:sp>
      <p:pic>
        <p:nvPicPr>
          <p:cNvPr id="16" name="Picture 16"/>
          <p:cNvPicPr>
            <a:picLocks noChangeAspect="1"/>
          </p:cNvPicPr>
          <p:nvPr>
            <p:custDataLst>
              <p:tags r:id="rId16"/>
            </p:custDataLst>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8111490" y="1635125"/>
            <a:ext cx="304800" cy="304800"/>
          </a:xfrm>
          <a:prstGeom prst="rect">
            <a:avLst/>
          </a:prstGeom>
        </p:spPr>
      </p:pic>
      <p:sp>
        <p:nvSpPr>
          <p:cNvPr id="17" name="AutoShape 17"/>
          <p:cNvSpPr/>
          <p:nvPr>
            <p:custDataLst>
              <p:tags r:id="rId19"/>
            </p:custDataLst>
          </p:nvPr>
        </p:nvSpPr>
        <p:spPr>
          <a:xfrm>
            <a:off x="6244590" y="2524125"/>
            <a:ext cx="22225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600" b="1">
                <a:solidFill>
                  <a:srgbClr val="FFFFFF"/>
                </a:solidFill>
                <a:latin typeface="Noto Sans SC" panose="020B0200000000000000" charset="-122"/>
                <a:ea typeface="Noto Sans SC" panose="020B0200000000000000" charset="-122"/>
                <a:cs typeface="Noto Sans SC" panose="020B0200000000000000" charset="-122"/>
              </a:rPr>
              <a:t>页面与路由测试：</a:t>
            </a:r>
            <a:r>
              <a:rPr lang="en-US" altLang="zh-CN" sz="1600" b="1">
                <a:solidFill>
                  <a:srgbClr val="FFFFFF"/>
                </a:solidFill>
                <a:latin typeface="Noto Sans SC" panose="020B0200000000000000" charset="-122"/>
                <a:ea typeface="Noto Sans SC" panose="020B0200000000000000" charset="-122"/>
                <a:cs typeface="Noto Sans SC" panose="020B0200000000000000" charset="-122"/>
              </a:rPr>
              <a:t>M1-01</a:t>
            </a:r>
            <a:r>
              <a:rPr lang="zh-CN" altLang="en-US" sz="1600" b="1">
                <a:solidFill>
                  <a:srgbClr val="FFFFFF"/>
                </a:solidFill>
                <a:latin typeface="Noto Sans SC" panose="020B0200000000000000" charset="-122"/>
                <a:ea typeface="Noto Sans SC" panose="020B0200000000000000" charset="-122"/>
                <a:cs typeface="Noto Sans SC" panose="020B0200000000000000" charset="-122"/>
              </a:rPr>
              <a:t>～</a:t>
            </a:r>
            <a:r>
              <a:rPr lang="en-US" altLang="zh-CN" sz="1600" b="1">
                <a:solidFill>
                  <a:srgbClr val="FFFFFF"/>
                </a:solidFill>
                <a:latin typeface="Noto Sans SC" panose="020B0200000000000000" charset="-122"/>
                <a:ea typeface="Noto Sans SC" panose="020B0200000000000000" charset="-122"/>
                <a:cs typeface="Noto Sans SC" panose="020B0200000000000000" charset="-122"/>
              </a:rPr>
              <a:t>M1-03</a:t>
            </a:r>
            <a:r>
              <a:rPr lang="zh-CN" altLang="en-US" sz="1600" b="1">
                <a:solidFill>
                  <a:srgbClr val="FFFFFF"/>
                </a:solidFill>
                <a:latin typeface="Noto Sans SC" panose="020B0200000000000000" charset="-122"/>
                <a:ea typeface="Noto Sans SC" panose="020B0200000000000000" charset="-122"/>
                <a:cs typeface="Noto Sans SC" panose="020B0200000000000000" charset="-122"/>
              </a:rPr>
              <a:t>。</a:t>
            </a:r>
            <a:endParaRPr lang="zh-CN" altLang="en-US" sz="1600" b="1">
              <a:solidFill>
                <a:srgbClr val="FFFFFF"/>
              </a:solidFill>
              <a:latin typeface="Noto Sans SC" panose="020B0200000000000000" charset="-122"/>
              <a:ea typeface="Noto Sans SC" panose="020B0200000000000000" charset="-122"/>
              <a:cs typeface="Noto Sans SC" panose="020B0200000000000000" charset="-122"/>
            </a:endParaRPr>
          </a:p>
        </p:txBody>
      </p:sp>
      <p:sp>
        <p:nvSpPr>
          <p:cNvPr id="19" name="AutoShape 19"/>
          <p:cNvSpPr/>
          <p:nvPr>
            <p:custDataLst>
              <p:tags r:id="rId20"/>
            </p:custDataLst>
          </p:nvPr>
        </p:nvSpPr>
        <p:spPr>
          <a:xfrm>
            <a:off x="8809990" y="1444625"/>
            <a:ext cx="2603500" cy="1968500"/>
          </a:xfrm>
          <a:prstGeom prst="roundRect">
            <a:avLst>
              <a:gd name="adj" fmla="val 0"/>
            </a:avLst>
          </a:prstGeom>
          <a:solidFill>
            <a:srgbClr val="34D399">
              <a:alpha val="8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p>
        </p:txBody>
      </p:sp>
      <p:sp>
        <p:nvSpPr>
          <p:cNvPr id="20" name="AutoShape 20"/>
          <p:cNvSpPr/>
          <p:nvPr>
            <p:custDataLst>
              <p:tags r:id="rId21"/>
            </p:custDataLst>
          </p:nvPr>
        </p:nvSpPr>
        <p:spPr>
          <a:xfrm>
            <a:off x="9000490" y="1635125"/>
            <a:ext cx="50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34D399">
                    <a:alpha val="5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04</a:t>
            </a:r>
            <a:endParaRPr lang="en-US" sz="1100"/>
          </a:p>
        </p:txBody>
      </p:sp>
      <p:pic>
        <p:nvPicPr>
          <p:cNvPr id="21" name="Picture 21"/>
          <p:cNvPicPr>
            <a:picLocks noChangeAspect="1"/>
          </p:cNvPicPr>
          <p:nvPr>
            <p:custDataLst>
              <p:tags r:id="rId22"/>
            </p:custDataLst>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10841990" y="1635125"/>
            <a:ext cx="304800" cy="304800"/>
          </a:xfrm>
          <a:prstGeom prst="rect">
            <a:avLst/>
          </a:prstGeom>
        </p:spPr>
      </p:pic>
      <p:sp>
        <p:nvSpPr>
          <p:cNvPr id="22" name="AutoShape 22"/>
          <p:cNvSpPr/>
          <p:nvPr>
            <p:custDataLst>
              <p:tags r:id="rId25"/>
            </p:custDataLst>
          </p:nvPr>
        </p:nvSpPr>
        <p:spPr>
          <a:xfrm>
            <a:off x="9000490" y="2524125"/>
            <a:ext cx="2222500" cy="317500"/>
          </a:xfrm>
          <a:prstGeom prst="rect">
            <a:avLst/>
          </a:prstGeom>
          <a:noFill/>
          <a:ln w="12700" cap="flat" cmpd="sng">
            <a:noFill/>
            <a:prstDash val="solid"/>
            <a:round/>
          </a:ln>
        </p:spPr>
        <p:txBody>
          <a:bodyPr vert="horz" wrap="square" lIns="0" tIns="0" rIns="0" bIns="0" rtlCol="0" anchor="ctr" anchorCtr="0">
            <a:noAutofit/>
          </a:bodyPr>
          <a:lstStyle/>
          <a:p>
            <a:pPr lvl="0" algn="l">
              <a:lnSpc>
                <a:spcPct val="125000"/>
              </a:lnSpc>
              <a:buSzTx/>
              <a:defRPr/>
            </a:pPr>
            <a:r>
              <a:rPr lang="zh-CN" altLang="en-US" sz="1600" b="1">
                <a:solidFill>
                  <a:srgbClr val="FFFFFF"/>
                </a:solidFill>
                <a:latin typeface="Noto Sans SC" panose="020B0200000000000000" charset="-122"/>
                <a:ea typeface="Noto Sans SC" panose="020B0200000000000000" charset="-122"/>
                <a:cs typeface="Noto Sans SC" panose="020B0200000000000000" charset="-122"/>
                <a:sym typeface="+mn-ea"/>
              </a:rPr>
              <a:t>container 实验：M1-24～M1-28。</a:t>
            </a:r>
            <a:endParaRPr lang="zh-CN" altLang="en-US" sz="1600" b="1">
              <a:solidFill>
                <a:srgbClr val="FFFFFF"/>
              </a:solidFill>
              <a:latin typeface="Noto Sans SC" panose="020B0200000000000000" charset="-122"/>
              <a:ea typeface="Noto Sans SC" panose="020B0200000000000000" charset="-122"/>
              <a:cs typeface="Noto Sans SC" panose="020B0200000000000000" charset="-122"/>
              <a:sym typeface="+mn-ea"/>
            </a:endParaRPr>
          </a:p>
        </p:txBody>
      </p:sp>
      <p:sp>
        <p:nvSpPr>
          <p:cNvPr id="24" name="AutoShape 24"/>
          <p:cNvSpPr/>
          <p:nvPr>
            <p:custDataLst>
              <p:tags r:id="rId26"/>
            </p:custDataLst>
          </p:nvPr>
        </p:nvSpPr>
        <p:spPr>
          <a:xfrm>
            <a:off x="618490" y="3730625"/>
            <a:ext cx="3378200" cy="1968500"/>
          </a:xfrm>
          <a:prstGeom prst="roundRect">
            <a:avLst>
              <a:gd name="adj" fmla="val 0"/>
            </a:avLst>
          </a:prstGeom>
          <a:solidFill>
            <a:srgbClr val="34D399">
              <a:alpha val="8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p>
        </p:txBody>
      </p:sp>
      <p:sp>
        <p:nvSpPr>
          <p:cNvPr id="25" name="AutoShape 25"/>
          <p:cNvSpPr/>
          <p:nvPr>
            <p:custDataLst>
              <p:tags r:id="rId27"/>
            </p:custDataLst>
          </p:nvPr>
        </p:nvSpPr>
        <p:spPr>
          <a:xfrm>
            <a:off x="808990" y="3921125"/>
            <a:ext cx="50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34D399">
                    <a:alpha val="5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05</a:t>
            </a:r>
            <a:endParaRPr lang="en-US" sz="1100"/>
          </a:p>
        </p:txBody>
      </p:sp>
      <p:pic>
        <p:nvPicPr>
          <p:cNvPr id="26" name="Picture 26"/>
          <p:cNvPicPr>
            <a:picLocks noChangeAspect="1"/>
          </p:cNvPicPr>
          <p:nvPr>
            <p:custDataLst>
              <p:tags r:id="rId28"/>
            </p:custDataLst>
          </p:nvPr>
        </p:nvPicPr>
        <p:blipFill>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tretch>
            <a:fillRect/>
          </a:stretch>
        </p:blipFill>
        <p:spPr>
          <a:xfrm>
            <a:off x="3488690" y="3921125"/>
            <a:ext cx="304800" cy="304800"/>
          </a:xfrm>
          <a:prstGeom prst="rect">
            <a:avLst/>
          </a:prstGeom>
        </p:spPr>
      </p:pic>
      <p:sp>
        <p:nvSpPr>
          <p:cNvPr id="27" name="AutoShape 27"/>
          <p:cNvSpPr/>
          <p:nvPr>
            <p:custDataLst>
              <p:tags r:id="rId31"/>
            </p:custDataLst>
          </p:nvPr>
        </p:nvSpPr>
        <p:spPr>
          <a:xfrm>
            <a:off x="808990" y="4598670"/>
            <a:ext cx="2997200" cy="317500"/>
          </a:xfrm>
          <a:prstGeom prst="rect">
            <a:avLst/>
          </a:prstGeom>
          <a:noFill/>
          <a:ln w="12700" cap="flat" cmpd="sng">
            <a:noFill/>
            <a:prstDash val="solid"/>
            <a:round/>
          </a:ln>
        </p:spPr>
        <p:txBody>
          <a:bodyPr vert="horz" wrap="square" lIns="0" tIns="0" rIns="0" bIns="0" rtlCol="0" anchor="ctr" anchorCtr="0">
            <a:noAutofit/>
          </a:bodyPr>
          <a:lstStyle/>
          <a:p>
            <a:pPr lvl="0" algn="l">
              <a:lnSpc>
                <a:spcPct val="125000"/>
              </a:lnSpc>
              <a:buSzTx/>
              <a:defRPr/>
            </a:pPr>
            <a:r>
              <a:rPr lang="zh-CN" altLang="en-US" sz="1600" b="1">
                <a:solidFill>
                  <a:srgbClr val="FFFFFF"/>
                </a:solidFill>
                <a:latin typeface="Noto Sans SC" panose="020B0200000000000000" charset="-122"/>
                <a:ea typeface="Noto Sans SC" panose="020B0200000000000000" charset="-122"/>
                <a:cs typeface="Noto Sans SC" panose="020B0200000000000000" charset="-122"/>
                <a:sym typeface="+mn-ea"/>
              </a:rPr>
              <a:t>报告接口测试：</a:t>
            </a:r>
            <a:r>
              <a:rPr lang="en-US" altLang="zh-CN" sz="1600" b="1">
                <a:solidFill>
                  <a:srgbClr val="FFFFFF"/>
                </a:solidFill>
                <a:latin typeface="Noto Sans SC" panose="020B0200000000000000" charset="-122"/>
                <a:ea typeface="Noto Sans SC" panose="020B0200000000000000" charset="-122"/>
                <a:cs typeface="Noto Sans SC" panose="020B0200000000000000" charset="-122"/>
                <a:sym typeface="+mn-ea"/>
              </a:rPr>
              <a:t>M1-05</a:t>
            </a:r>
            <a:r>
              <a:rPr lang="zh-CN" altLang="en-US" sz="1600" b="1">
                <a:solidFill>
                  <a:srgbClr val="FFFFFF"/>
                </a:solidFill>
                <a:latin typeface="Noto Sans SC" panose="020B0200000000000000" charset="-122"/>
                <a:ea typeface="Noto Sans SC" panose="020B0200000000000000" charset="-122"/>
                <a:cs typeface="Noto Sans SC" panose="020B0200000000000000" charset="-122"/>
                <a:sym typeface="+mn-ea"/>
              </a:rPr>
              <a:t>～</a:t>
            </a:r>
            <a:r>
              <a:rPr lang="en-US" altLang="zh-CN" sz="1600" b="1">
                <a:solidFill>
                  <a:srgbClr val="FFFFFF"/>
                </a:solidFill>
                <a:latin typeface="Noto Sans SC" panose="020B0200000000000000" charset="-122"/>
                <a:ea typeface="Noto Sans SC" panose="020B0200000000000000" charset="-122"/>
                <a:cs typeface="Noto Sans SC" panose="020B0200000000000000" charset="-122"/>
                <a:sym typeface="+mn-ea"/>
              </a:rPr>
              <a:t>M1-07</a:t>
            </a:r>
            <a:r>
              <a:rPr lang="zh-CN" altLang="en-US" sz="1600" b="1">
                <a:solidFill>
                  <a:srgbClr val="FFFFFF"/>
                </a:solidFill>
                <a:latin typeface="Noto Sans SC" panose="020B0200000000000000" charset="-122"/>
                <a:ea typeface="Noto Sans SC" panose="020B0200000000000000" charset="-122"/>
                <a:cs typeface="Noto Sans SC" panose="020B0200000000000000" charset="-122"/>
                <a:sym typeface="+mn-ea"/>
              </a:rPr>
              <a:t>。</a:t>
            </a:r>
            <a:endParaRPr lang="zh-CN" altLang="en-US" sz="1600" b="1">
              <a:solidFill>
                <a:srgbClr val="FFFFFF"/>
              </a:solidFill>
              <a:latin typeface="Noto Sans SC" panose="020B0200000000000000" charset="-122"/>
              <a:ea typeface="Noto Sans SC" panose="020B0200000000000000" charset="-122"/>
              <a:cs typeface="Noto Sans SC" panose="020B0200000000000000" charset="-122"/>
              <a:sym typeface="+mn-ea"/>
            </a:endParaRPr>
          </a:p>
        </p:txBody>
      </p:sp>
      <p:sp>
        <p:nvSpPr>
          <p:cNvPr id="29" name="AutoShape 29"/>
          <p:cNvSpPr/>
          <p:nvPr>
            <p:custDataLst>
              <p:tags r:id="rId32"/>
            </p:custDataLst>
          </p:nvPr>
        </p:nvSpPr>
        <p:spPr>
          <a:xfrm>
            <a:off x="4263390" y="3730625"/>
            <a:ext cx="3378200" cy="1968500"/>
          </a:xfrm>
          <a:prstGeom prst="roundRect">
            <a:avLst>
              <a:gd name="adj" fmla="val 0"/>
            </a:avLst>
          </a:prstGeom>
          <a:solidFill>
            <a:srgbClr val="34D399">
              <a:alpha val="8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p>
        </p:txBody>
      </p:sp>
      <p:sp>
        <p:nvSpPr>
          <p:cNvPr id="30" name="AutoShape 30"/>
          <p:cNvSpPr/>
          <p:nvPr>
            <p:custDataLst>
              <p:tags r:id="rId33"/>
            </p:custDataLst>
          </p:nvPr>
        </p:nvSpPr>
        <p:spPr>
          <a:xfrm>
            <a:off x="4453890" y="3921125"/>
            <a:ext cx="50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34D399">
                    <a:alpha val="5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06</a:t>
            </a:r>
            <a:endParaRPr lang="en-US" sz="1100"/>
          </a:p>
        </p:txBody>
      </p:sp>
      <p:pic>
        <p:nvPicPr>
          <p:cNvPr id="31" name="Picture 31"/>
          <p:cNvPicPr>
            <a:picLocks noChangeAspect="1"/>
          </p:cNvPicPr>
          <p:nvPr>
            <p:custDataLst>
              <p:tags r:id="rId34"/>
            </p:custDataLst>
          </p:nvPr>
        </p:nvPicPr>
        <p:blipFill>
          <a:blip r:embed="rId35">
            <a:extLst>
              <a:ext uri="{28A0092B-C50C-407E-A947-70E740481C1C}">
                <a14:useLocalDpi xmlns:a14="http://schemas.microsoft.com/office/drawing/2010/main" val="0"/>
              </a:ext>
              <a:ext uri="{96DAC541-7B7A-43D3-8B79-37D633B846F1}">
                <asvg:svgBlip xmlns:asvg="http://schemas.microsoft.com/office/drawing/2016/SVG/main" r:embed="rId36"/>
              </a:ext>
            </a:extLst>
          </a:blip>
          <a:stretch>
            <a:fillRect/>
          </a:stretch>
        </p:blipFill>
        <p:spPr>
          <a:xfrm>
            <a:off x="7133590" y="3921125"/>
            <a:ext cx="304800" cy="304800"/>
          </a:xfrm>
          <a:prstGeom prst="rect">
            <a:avLst/>
          </a:prstGeom>
        </p:spPr>
      </p:pic>
      <p:sp>
        <p:nvSpPr>
          <p:cNvPr id="32" name="AutoShape 32"/>
          <p:cNvSpPr/>
          <p:nvPr>
            <p:custDataLst>
              <p:tags r:id="rId37"/>
            </p:custDataLst>
          </p:nvPr>
        </p:nvSpPr>
        <p:spPr>
          <a:xfrm>
            <a:off x="4453890" y="4598670"/>
            <a:ext cx="2997200" cy="317500"/>
          </a:xfrm>
          <a:prstGeom prst="rect">
            <a:avLst/>
          </a:prstGeom>
          <a:noFill/>
          <a:ln w="12700" cap="flat" cmpd="sng">
            <a:noFill/>
            <a:prstDash val="solid"/>
            <a:round/>
          </a:ln>
        </p:spPr>
        <p:txBody>
          <a:bodyPr vert="horz" wrap="square" lIns="0" tIns="0" rIns="0" bIns="0" rtlCol="0" anchor="ctr" anchorCtr="0">
            <a:noAutofit/>
          </a:bodyPr>
          <a:lstStyle/>
          <a:p>
            <a:pPr lvl="0" algn="l">
              <a:lnSpc>
                <a:spcPct val="125000"/>
              </a:lnSpc>
              <a:buSzTx/>
              <a:defRPr/>
            </a:pPr>
            <a:r>
              <a:rPr lang="zh-CN" altLang="en-US" sz="1600" b="1">
                <a:solidFill>
                  <a:srgbClr val="FFFFFF"/>
                </a:solidFill>
                <a:latin typeface="Noto Sans SC" panose="020B0200000000000000" charset="-122"/>
                <a:ea typeface="Noto Sans SC" panose="020B0200000000000000" charset="-122"/>
                <a:cs typeface="Noto Sans SC" panose="020B0200000000000000" charset="-122"/>
                <a:sym typeface="+mn-ea"/>
              </a:rPr>
              <a:t>calc </a:t>
            </a:r>
            <a:r>
              <a:rPr lang="zh-CN" altLang="en-US" sz="1600" b="1">
                <a:solidFill>
                  <a:srgbClr val="FFFFFF"/>
                </a:solidFill>
                <a:latin typeface="Noto Sans SC" panose="020B0200000000000000" charset="-122"/>
                <a:ea typeface="Noto Sans SC" panose="020B0200000000000000" charset="-122"/>
                <a:cs typeface="Noto Sans SC" panose="020B0200000000000000" charset="-122"/>
                <a:sym typeface="+mn-ea"/>
              </a:rPr>
              <a:t>实验：</a:t>
            </a:r>
            <a:r>
              <a:rPr lang="zh-CN" altLang="en-US" sz="1600" b="1">
                <a:solidFill>
                  <a:srgbClr val="FFFFFF"/>
                </a:solidFill>
                <a:latin typeface="Noto Sans SC" panose="020B0200000000000000" charset="-122"/>
                <a:ea typeface="Noto Sans SC" panose="020B0200000000000000" charset="-122"/>
                <a:cs typeface="Noto Sans SC" panose="020B0200000000000000" charset="-122"/>
                <a:sym typeface="+mn-ea"/>
              </a:rPr>
              <a:t>M1-08</a:t>
            </a:r>
            <a:r>
              <a:rPr lang="zh-CN" altLang="en-US" sz="1600" b="1">
                <a:solidFill>
                  <a:srgbClr val="FFFFFF"/>
                </a:solidFill>
                <a:latin typeface="Noto Sans SC" panose="020B0200000000000000" charset="-122"/>
                <a:ea typeface="Noto Sans SC" panose="020B0200000000000000" charset="-122"/>
                <a:cs typeface="Noto Sans SC" panose="020B0200000000000000" charset="-122"/>
                <a:sym typeface="+mn-ea"/>
              </a:rPr>
              <a:t>～</a:t>
            </a:r>
            <a:r>
              <a:rPr lang="zh-CN" altLang="en-US" sz="1600" b="1">
                <a:solidFill>
                  <a:srgbClr val="FFFFFF"/>
                </a:solidFill>
                <a:latin typeface="Noto Sans SC" panose="020B0200000000000000" charset="-122"/>
                <a:ea typeface="Noto Sans SC" panose="020B0200000000000000" charset="-122"/>
                <a:cs typeface="Noto Sans SC" panose="020B0200000000000000" charset="-122"/>
                <a:sym typeface="+mn-ea"/>
              </a:rPr>
              <a:t>M1-12</a:t>
            </a:r>
            <a:endParaRPr lang="zh-CN" altLang="en-US" sz="1600" b="1">
              <a:solidFill>
                <a:srgbClr val="FFFFFF"/>
              </a:solidFill>
              <a:latin typeface="Noto Sans SC" panose="020B0200000000000000" charset="-122"/>
              <a:ea typeface="Noto Sans SC" panose="020B0200000000000000" charset="-122"/>
              <a:cs typeface="Noto Sans SC" panose="020B0200000000000000" charset="-122"/>
              <a:sym typeface="+mn-ea"/>
            </a:endParaRPr>
          </a:p>
        </p:txBody>
      </p:sp>
      <p:sp>
        <p:nvSpPr>
          <p:cNvPr id="34" name="AutoShape 34"/>
          <p:cNvSpPr/>
          <p:nvPr>
            <p:custDataLst>
              <p:tags r:id="rId38"/>
            </p:custDataLst>
          </p:nvPr>
        </p:nvSpPr>
        <p:spPr>
          <a:xfrm>
            <a:off x="7908290" y="3730625"/>
            <a:ext cx="3378200" cy="1968500"/>
          </a:xfrm>
          <a:prstGeom prst="roundRect">
            <a:avLst>
              <a:gd name="adj" fmla="val 0"/>
            </a:avLst>
          </a:prstGeom>
          <a:solidFill>
            <a:srgbClr val="34D399">
              <a:alpha val="8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p>
        </p:txBody>
      </p:sp>
      <p:sp>
        <p:nvSpPr>
          <p:cNvPr id="35" name="AutoShape 35"/>
          <p:cNvSpPr/>
          <p:nvPr>
            <p:custDataLst>
              <p:tags r:id="rId39"/>
            </p:custDataLst>
          </p:nvPr>
        </p:nvSpPr>
        <p:spPr>
          <a:xfrm>
            <a:off x="8098790" y="3921125"/>
            <a:ext cx="50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34D399">
                    <a:alpha val="5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07</a:t>
            </a:r>
            <a:endParaRPr lang="en-US" sz="1100"/>
          </a:p>
        </p:txBody>
      </p:sp>
      <p:pic>
        <p:nvPicPr>
          <p:cNvPr id="36" name="Picture 36"/>
          <p:cNvPicPr>
            <a:picLocks noChangeAspect="1"/>
          </p:cNvPicPr>
          <p:nvPr>
            <p:custDataLst>
              <p:tags r:id="rId40"/>
            </p:custDataLst>
          </p:nvPr>
        </p:nvPicPr>
        <p:blipFill>
          <a:blip r:embed="rId41">
            <a:extLst>
              <a:ext uri="{28A0092B-C50C-407E-A947-70E740481C1C}">
                <a14:useLocalDpi xmlns:a14="http://schemas.microsoft.com/office/drawing/2010/main" val="0"/>
              </a:ext>
              <a:ext uri="{96DAC541-7B7A-43D3-8B79-37D633B846F1}">
                <asvg:svgBlip xmlns:asvg="http://schemas.microsoft.com/office/drawing/2016/SVG/main" r:embed="rId42"/>
              </a:ext>
            </a:extLst>
          </a:blip>
          <a:stretch>
            <a:fillRect/>
          </a:stretch>
        </p:blipFill>
        <p:spPr>
          <a:xfrm>
            <a:off x="10778490" y="3921125"/>
            <a:ext cx="304800" cy="304800"/>
          </a:xfrm>
          <a:prstGeom prst="rect">
            <a:avLst/>
          </a:prstGeom>
        </p:spPr>
      </p:pic>
      <p:sp>
        <p:nvSpPr>
          <p:cNvPr id="37" name="AutoShape 37"/>
          <p:cNvSpPr/>
          <p:nvPr>
            <p:custDataLst>
              <p:tags r:id="rId43"/>
            </p:custDataLst>
          </p:nvPr>
        </p:nvSpPr>
        <p:spPr>
          <a:xfrm>
            <a:off x="8111490" y="4698365"/>
            <a:ext cx="2997200" cy="317500"/>
          </a:xfrm>
          <a:prstGeom prst="rect">
            <a:avLst/>
          </a:prstGeom>
          <a:noFill/>
          <a:ln w="12700" cap="flat" cmpd="sng">
            <a:noFill/>
            <a:prstDash val="solid"/>
            <a:round/>
          </a:ln>
        </p:spPr>
        <p:txBody>
          <a:bodyPr vert="horz" wrap="square" lIns="0" tIns="0" rIns="0" bIns="0" rtlCol="0" anchor="ctr" anchorCtr="0">
            <a:noAutofit/>
          </a:bodyPr>
          <a:lstStyle/>
          <a:p>
            <a:pPr lvl="0" algn="l">
              <a:lnSpc>
                <a:spcPct val="125000"/>
              </a:lnSpc>
              <a:buSzTx/>
              <a:defRPr/>
            </a:pPr>
            <a:r>
              <a:rPr lang="zh-CN" altLang="en-US" sz="1600" b="1">
                <a:solidFill>
                  <a:srgbClr val="FFFFFF"/>
                </a:solidFill>
                <a:latin typeface="Noto Sans SC" panose="020B0200000000000000" charset="-122"/>
                <a:ea typeface="Noto Sans SC" panose="020B0200000000000000" charset="-122"/>
                <a:cs typeface="Noto Sans SC" panose="020B0200000000000000" charset="-122"/>
                <a:sym typeface="+mn-ea"/>
              </a:rPr>
              <a:t>Chrome</a:t>
            </a:r>
            <a:r>
              <a:rPr lang="zh-CN" altLang="en-US" sz="1600" b="1">
                <a:solidFill>
                  <a:srgbClr val="FFFFFF"/>
                </a:solidFill>
                <a:latin typeface="Noto Sans SC" panose="020B0200000000000000" charset="-122"/>
                <a:ea typeface="Noto Sans SC" panose="020B0200000000000000" charset="-122"/>
                <a:cs typeface="Noto Sans SC" panose="020B0200000000000000" charset="-122"/>
                <a:sym typeface="+mn-ea"/>
              </a:rPr>
              <a:t>、</a:t>
            </a:r>
            <a:r>
              <a:rPr lang="zh-CN" altLang="en-US" sz="1600" b="1">
                <a:solidFill>
                  <a:srgbClr val="FFFFFF"/>
                </a:solidFill>
                <a:latin typeface="Noto Sans SC" panose="020B0200000000000000" charset="-122"/>
                <a:ea typeface="Noto Sans SC" panose="020B0200000000000000" charset="-122"/>
                <a:cs typeface="Noto Sans SC" panose="020B0200000000000000" charset="-122"/>
                <a:sym typeface="+mn-ea"/>
              </a:rPr>
              <a:t>Firefox</a:t>
            </a:r>
            <a:r>
              <a:rPr lang="zh-CN" altLang="en-US" sz="1600" b="1">
                <a:solidFill>
                  <a:srgbClr val="FFFFFF"/>
                </a:solidFill>
                <a:latin typeface="Noto Sans SC" panose="020B0200000000000000" charset="-122"/>
                <a:ea typeface="Noto Sans SC" panose="020B0200000000000000" charset="-122"/>
                <a:cs typeface="Noto Sans SC" panose="020B0200000000000000" charset="-122"/>
                <a:sym typeface="+mn-ea"/>
              </a:rPr>
              <a:t>、</a:t>
            </a:r>
            <a:r>
              <a:rPr lang="zh-CN" altLang="en-US" sz="1600" b="1">
                <a:solidFill>
                  <a:srgbClr val="FFFFFF"/>
                </a:solidFill>
                <a:latin typeface="Noto Sans SC" panose="020B0200000000000000" charset="-122"/>
                <a:ea typeface="Noto Sans SC" panose="020B0200000000000000" charset="-122"/>
                <a:cs typeface="Noto Sans SC" panose="020B0200000000000000" charset="-122"/>
                <a:sym typeface="+mn-ea"/>
              </a:rPr>
              <a:t>Tor </a:t>
            </a:r>
            <a:r>
              <a:rPr lang="zh-CN" altLang="en-US" sz="1600" b="1">
                <a:solidFill>
                  <a:srgbClr val="FFFFFF"/>
                </a:solidFill>
                <a:latin typeface="Noto Sans SC" panose="020B0200000000000000" charset="-122"/>
                <a:ea typeface="Noto Sans SC" panose="020B0200000000000000" charset="-122"/>
                <a:cs typeface="Noto Sans SC" panose="020B0200000000000000" charset="-122"/>
                <a:sym typeface="+mn-ea"/>
              </a:rPr>
              <a:t>指纹</a:t>
            </a:r>
            <a:r>
              <a:rPr lang="zh-CN" altLang="en-US" sz="1600" b="1">
                <a:solidFill>
                  <a:srgbClr val="FFFFFF"/>
                </a:solidFill>
                <a:latin typeface="Noto Sans SC" panose="020B0200000000000000" charset="-122"/>
                <a:ea typeface="Noto Sans SC" panose="020B0200000000000000" charset="-122"/>
                <a:cs typeface="Noto Sans SC" panose="020B0200000000000000" charset="-122"/>
                <a:sym typeface="+mn-ea"/>
              </a:rPr>
              <a:t> PoC</a:t>
            </a:r>
            <a:r>
              <a:rPr lang="zh-CN" altLang="en-US" sz="1600" b="1">
                <a:solidFill>
                  <a:srgbClr val="FFFFFF"/>
                </a:solidFill>
                <a:latin typeface="Noto Sans SC" panose="020B0200000000000000" charset="-122"/>
                <a:ea typeface="Noto Sans SC" panose="020B0200000000000000" charset="-122"/>
                <a:cs typeface="Noto Sans SC" panose="020B0200000000000000" charset="-122"/>
                <a:sym typeface="+mn-ea"/>
              </a:rPr>
              <a:t>：</a:t>
            </a:r>
            <a:r>
              <a:rPr lang="zh-CN" altLang="en-US" sz="1600" b="1">
                <a:solidFill>
                  <a:srgbClr val="FFFFFF"/>
                </a:solidFill>
                <a:latin typeface="Noto Sans SC" panose="020B0200000000000000" charset="-122"/>
                <a:ea typeface="Noto Sans SC" panose="020B0200000000000000" charset="-122"/>
                <a:cs typeface="Noto Sans SC" panose="020B0200000000000000" charset="-122"/>
                <a:sym typeface="+mn-ea"/>
              </a:rPr>
              <a:t>M1-13</a:t>
            </a:r>
            <a:r>
              <a:rPr lang="zh-CN" altLang="en-US" sz="1600" b="1">
                <a:solidFill>
                  <a:srgbClr val="FFFFFF"/>
                </a:solidFill>
                <a:latin typeface="Noto Sans SC" panose="020B0200000000000000" charset="-122"/>
                <a:ea typeface="Noto Sans SC" panose="020B0200000000000000" charset="-122"/>
                <a:cs typeface="Noto Sans SC" panose="020B0200000000000000" charset="-122"/>
                <a:sym typeface="+mn-ea"/>
              </a:rPr>
              <a:t>～</a:t>
            </a:r>
            <a:r>
              <a:rPr lang="zh-CN" altLang="en-US" sz="1600" b="1">
                <a:solidFill>
                  <a:srgbClr val="FFFFFF"/>
                </a:solidFill>
                <a:latin typeface="Noto Sans SC" panose="020B0200000000000000" charset="-122"/>
                <a:ea typeface="Noto Sans SC" panose="020B0200000000000000" charset="-122"/>
                <a:cs typeface="Noto Sans SC" panose="020B0200000000000000" charset="-122"/>
                <a:sym typeface="+mn-ea"/>
              </a:rPr>
              <a:t>M1-15</a:t>
            </a:r>
            <a:endParaRPr lang="zh-CN" altLang="en-US" sz="1600" b="1">
              <a:solidFill>
                <a:srgbClr val="FFFFFF"/>
              </a:solidFill>
              <a:latin typeface="Noto Sans SC" panose="020B0200000000000000" charset="-122"/>
              <a:ea typeface="Noto Sans SC" panose="020B0200000000000000" charset="-122"/>
              <a:cs typeface="Noto Sans SC" panose="020B0200000000000000" charset="-122"/>
              <a:sym typeface="+mn-ea"/>
            </a:endParaRPr>
          </a:p>
        </p:txBody>
      </p:sp>
      <p:sp>
        <p:nvSpPr>
          <p:cNvPr id="39" name="文本框 38"/>
          <p:cNvSpPr txBox="1"/>
          <p:nvPr/>
        </p:nvSpPr>
        <p:spPr>
          <a:xfrm>
            <a:off x="762000" y="814705"/>
            <a:ext cx="11543665" cy="521970"/>
          </a:xfrm>
          <a:prstGeom prst="rect">
            <a:avLst/>
          </a:prstGeom>
          <a:noFill/>
        </p:spPr>
        <p:txBody>
          <a:bodyPr wrap="square" rtlCol="0">
            <a:spAutoFit/>
          </a:bodyPr>
          <a:p>
            <a:r>
              <a:rPr lang="zh-CN" altLang="en-US">
                <a:solidFill>
                  <a:schemeClr val="bg1"/>
                </a:solidFill>
              </a:rPr>
              <a:t>测试用例共</a:t>
            </a:r>
            <a:r>
              <a:rPr lang="en-US" altLang="zh-CN">
                <a:solidFill>
                  <a:schemeClr val="bg1"/>
                </a:solidFill>
              </a:rPr>
              <a:t> 32 </a:t>
            </a:r>
            <a:r>
              <a:rPr lang="zh-CN" altLang="en-US">
                <a:solidFill>
                  <a:schemeClr val="bg1"/>
                </a:solidFill>
              </a:rPr>
              <a:t>个，其中，</a:t>
            </a:r>
            <a:r>
              <a:rPr lang="zh-CN" altLang="en-US" b="1">
                <a:solidFill>
                  <a:srgbClr val="FFFFFF"/>
                </a:solidFill>
                <a:latin typeface="Noto Sans SC" panose="020B0200000000000000" charset="-122"/>
                <a:ea typeface="Noto Sans SC" panose="020B0200000000000000" charset="-122"/>
                <a:cs typeface="Noto Sans SC" panose="020B0200000000000000" charset="-122"/>
                <a:sym typeface="+mn-ea"/>
              </a:rPr>
              <a:t>高优先级用例</a:t>
            </a:r>
            <a:r>
              <a:rPr lang="en-US" altLang="zh-CN" b="1">
                <a:solidFill>
                  <a:srgbClr val="FFFFFF"/>
                </a:solidFill>
                <a:latin typeface="Noto Sans SC" panose="020B0200000000000000" charset="-122"/>
                <a:ea typeface="Noto Sans SC" panose="020B0200000000000000" charset="-122"/>
                <a:cs typeface="Noto Sans SC" panose="020B0200000000000000" charset="-122"/>
                <a:sym typeface="+mn-ea"/>
              </a:rPr>
              <a:t> 23 </a:t>
            </a:r>
            <a:r>
              <a:rPr lang="zh-CN" altLang="en-US" b="1">
                <a:solidFill>
                  <a:srgbClr val="FFFFFF"/>
                </a:solidFill>
                <a:latin typeface="Noto Sans SC" panose="020B0200000000000000" charset="-122"/>
                <a:ea typeface="Noto Sans SC" panose="020B0200000000000000" charset="-122"/>
                <a:cs typeface="Noto Sans SC" panose="020B0200000000000000" charset="-122"/>
                <a:sym typeface="+mn-ea"/>
              </a:rPr>
              <a:t>个，占</a:t>
            </a:r>
            <a:r>
              <a:rPr lang="en-US" altLang="zh-CN" b="1">
                <a:solidFill>
                  <a:srgbClr val="FFFFFF"/>
                </a:solidFill>
                <a:latin typeface="Noto Sans SC" panose="020B0200000000000000" charset="-122"/>
                <a:ea typeface="Noto Sans SC" panose="020B0200000000000000" charset="-122"/>
                <a:cs typeface="Noto Sans SC" panose="020B0200000000000000" charset="-122"/>
                <a:sym typeface="+mn-ea"/>
              </a:rPr>
              <a:t> 71.9%               </a:t>
            </a:r>
            <a:r>
              <a:rPr lang="zh-CN" altLang="en-US" b="1">
                <a:solidFill>
                  <a:srgbClr val="FFFFFF"/>
                </a:solidFill>
                <a:latin typeface="Noto Sans SC" panose="020B0200000000000000" charset="-122"/>
                <a:ea typeface="Noto Sans SC" panose="020B0200000000000000" charset="-122"/>
                <a:cs typeface="Noto Sans SC" panose="020B0200000000000000" charset="-122"/>
                <a:sym typeface="+mn-ea"/>
              </a:rPr>
              <a:t>中优先级用例</a:t>
            </a:r>
            <a:r>
              <a:rPr lang="en-US" altLang="zh-CN" b="1">
                <a:solidFill>
                  <a:srgbClr val="FFFFFF"/>
                </a:solidFill>
                <a:latin typeface="Noto Sans SC" panose="020B0200000000000000" charset="-122"/>
                <a:ea typeface="Noto Sans SC" panose="020B0200000000000000" charset="-122"/>
                <a:cs typeface="Noto Sans SC" panose="020B0200000000000000" charset="-122"/>
                <a:sym typeface="+mn-ea"/>
              </a:rPr>
              <a:t> 9 </a:t>
            </a:r>
            <a:r>
              <a:rPr lang="zh-CN" altLang="en-US" b="1">
                <a:solidFill>
                  <a:srgbClr val="FFFFFF"/>
                </a:solidFill>
                <a:latin typeface="Noto Sans SC" panose="020B0200000000000000" charset="-122"/>
                <a:ea typeface="Noto Sans SC" panose="020B0200000000000000" charset="-122"/>
                <a:cs typeface="Noto Sans SC" panose="020B0200000000000000" charset="-122"/>
                <a:sym typeface="+mn-ea"/>
              </a:rPr>
              <a:t>个，占</a:t>
            </a:r>
            <a:r>
              <a:rPr lang="en-US" altLang="zh-CN" b="1">
                <a:solidFill>
                  <a:srgbClr val="FFFFFF"/>
                </a:solidFill>
                <a:latin typeface="Noto Sans SC" panose="020B0200000000000000" charset="-122"/>
                <a:ea typeface="Noto Sans SC" panose="020B0200000000000000" charset="-122"/>
                <a:cs typeface="Noto Sans SC" panose="020B0200000000000000" charset="-122"/>
                <a:sym typeface="+mn-ea"/>
              </a:rPr>
              <a:t> 28.1%</a:t>
            </a:r>
            <a:r>
              <a:rPr lang="zh-CN" altLang="en-US" b="1">
                <a:solidFill>
                  <a:srgbClr val="FFFFFF"/>
                </a:solidFill>
                <a:latin typeface="Noto Sans SC" panose="020B0200000000000000" charset="-122"/>
                <a:ea typeface="Noto Sans SC" panose="020B0200000000000000" charset="-122"/>
                <a:cs typeface="Noto Sans SC" panose="020B0200000000000000" charset="-122"/>
                <a:sym typeface="+mn-ea"/>
              </a:rPr>
              <a:t>。</a:t>
            </a:r>
            <a:endParaRPr lang="en-US" altLang="zh-CN" b="1">
              <a:solidFill>
                <a:srgbClr val="FFFFFF"/>
              </a:solidFill>
              <a:latin typeface="Noto Sans SC" panose="020B0200000000000000" charset="-122"/>
              <a:ea typeface="Noto Sans SC" panose="020B0200000000000000" charset="-122"/>
              <a:cs typeface="Noto Sans SC" panose="020B0200000000000000" charset="-122"/>
            </a:endParaRPr>
          </a:p>
          <a:p>
            <a:endParaRPr lang="zh-CN" altLang="en-US">
              <a:solidFill>
                <a:schemeClr val="bg1"/>
              </a:solidFill>
            </a:endParaRPr>
          </a:p>
        </p:txBody>
      </p:sp>
      <p:sp>
        <p:nvSpPr>
          <p:cNvPr id="8" name="文本框 7"/>
          <p:cNvSpPr txBox="1"/>
          <p:nvPr/>
        </p:nvSpPr>
        <p:spPr>
          <a:xfrm>
            <a:off x="977265" y="5835650"/>
            <a:ext cx="10169525" cy="306705"/>
          </a:xfrm>
          <a:prstGeom prst="rect">
            <a:avLst/>
          </a:prstGeom>
          <a:noFill/>
        </p:spPr>
        <p:txBody>
          <a:bodyPr wrap="square" rtlCol="0">
            <a:spAutoFit/>
          </a:bodyPr>
          <a:p>
            <a:pPr lvl="0" algn="l">
              <a:buSzTx/>
            </a:pPr>
            <a:r>
              <a:rPr lang="zh-CN" altLang="en-US">
                <a:solidFill>
                  <a:schemeClr val="bg1"/>
                </a:solidFill>
                <a:sym typeface="+mn-ea"/>
              </a:rPr>
              <a:t>浏览器扩展</a:t>
            </a:r>
            <a:r>
              <a:rPr lang="zh-CN" altLang="en-US">
                <a:solidFill>
                  <a:schemeClr val="bg1"/>
                </a:solidFill>
                <a:sym typeface="+mn-ea"/>
              </a:rPr>
              <a:t> content.js </a:t>
            </a:r>
            <a:r>
              <a:rPr lang="zh-CN" altLang="en-US">
                <a:solidFill>
                  <a:schemeClr val="bg1"/>
                </a:solidFill>
                <a:sym typeface="+mn-ea"/>
              </a:rPr>
              <a:t>和</a:t>
            </a:r>
            <a:r>
              <a:rPr lang="zh-CN" altLang="en-US">
                <a:solidFill>
                  <a:schemeClr val="bg1"/>
                </a:solidFill>
                <a:sym typeface="+mn-ea"/>
              </a:rPr>
              <a:t> background.js</a:t>
            </a:r>
            <a:r>
              <a:rPr lang="zh-CN" altLang="en-US">
                <a:solidFill>
                  <a:schemeClr val="bg1"/>
                </a:solidFill>
                <a:sym typeface="+mn-ea"/>
              </a:rPr>
              <a:t>：</a:t>
            </a:r>
            <a:r>
              <a:rPr lang="zh-CN" altLang="en-US">
                <a:solidFill>
                  <a:schemeClr val="bg1"/>
                </a:solidFill>
                <a:sym typeface="+mn-ea"/>
              </a:rPr>
              <a:t>M1-29</a:t>
            </a:r>
            <a:r>
              <a:rPr lang="zh-CN" altLang="en-US">
                <a:solidFill>
                  <a:schemeClr val="bg1"/>
                </a:solidFill>
                <a:sym typeface="+mn-ea"/>
              </a:rPr>
              <a:t>～</a:t>
            </a:r>
            <a:r>
              <a:rPr lang="zh-CN" altLang="en-US">
                <a:solidFill>
                  <a:schemeClr val="bg1"/>
                </a:solidFill>
                <a:sym typeface="+mn-ea"/>
              </a:rPr>
              <a:t>M1-32</a:t>
            </a:r>
            <a:r>
              <a:rPr lang="zh-CN" altLang="en-US">
                <a:solidFill>
                  <a:schemeClr val="bg1"/>
                </a:solidFill>
                <a:sym typeface="+mn-ea"/>
              </a:rPr>
              <a:t>。</a:t>
            </a:r>
            <a:endParaRPr lang="zh-CN" altLang="en-US">
              <a:solidFill>
                <a:schemeClr val="bg1"/>
              </a:solidFill>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02 </a:t>
            </a:r>
            <a:r>
              <a:rPr lang="zh-CN" altLang="en-US" sz="32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测试</a:t>
            </a:r>
            <a:r>
              <a:rPr lang="zh-CN" altLang="en-US" sz="32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层次</a:t>
            </a:r>
            <a:endParaRPr lang="zh-CN" altLang="en-US" sz="32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4" name="图片 3"/>
          <p:cNvPicPr>
            <a:picLocks noChangeAspect="1"/>
          </p:cNvPicPr>
          <p:nvPr/>
        </p:nvPicPr>
        <p:blipFill>
          <a:blip r:embed="rId2"/>
          <a:stretch>
            <a:fillRect/>
          </a:stretch>
        </p:blipFill>
        <p:spPr>
          <a:xfrm>
            <a:off x="854710" y="2072640"/>
            <a:ext cx="10668000" cy="3987800"/>
          </a:xfrm>
          <a:prstGeom prst="rect">
            <a:avLst/>
          </a:prstGeom>
        </p:spPr>
      </p:pic>
      <p:sp>
        <p:nvSpPr>
          <p:cNvPr id="5" name="文本框 4"/>
          <p:cNvSpPr txBox="1"/>
          <p:nvPr/>
        </p:nvSpPr>
        <p:spPr>
          <a:xfrm>
            <a:off x="1964690" y="1270000"/>
            <a:ext cx="6635115" cy="706755"/>
          </a:xfrm>
          <a:prstGeom prst="rect">
            <a:avLst/>
          </a:prstGeom>
          <a:noFill/>
        </p:spPr>
        <p:txBody>
          <a:bodyPr wrap="square" rtlCol="0">
            <a:spAutoFit/>
          </a:bodyPr>
          <a:p>
            <a:r>
              <a:rPr lang="en-US" sz="4000" b="1">
                <a:solidFill>
                  <a:srgbClr val="FFFFFF"/>
                </a:solidFill>
                <a:latin typeface="Noto Sans SC" panose="020B0200000000000000" charset="-122"/>
                <a:ea typeface="Noto Sans SC" panose="020B0200000000000000" charset="-122"/>
                <a:cs typeface="Noto Sans SC" panose="020B0200000000000000" charset="-122"/>
              </a:rPr>
              <a:t>层次表格如下:</a:t>
            </a:r>
            <a:endParaRPr lang="en-US" sz="4000" b="1">
              <a:solidFill>
                <a:srgbClr val="FFFFFF"/>
              </a:solidFill>
              <a:latin typeface="Noto Sans SC" panose="020B0200000000000000" charset="-122"/>
              <a:ea typeface="Noto Sans SC" panose="020B0200000000000000" charset="-122"/>
              <a:cs typeface="Noto Sans SC" panose="020B0200000000000000"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80000"/>
            </a:srgbClr>
          </a:solidFill>
          <a:ln cap="flat" cmpd="sng">
            <a:solidFill>
              <a:srgbClr val="000000">
                <a:alpha val="80000"/>
              </a:srgbClr>
            </a:solidFill>
            <a:prstDash val="solid"/>
            <a:round/>
          </a:ln>
        </p:spPr>
        <p:txBody>
          <a:bodyPr vert="horz" wrap="square" lIns="63500" tIns="63500" rIns="63500" bIns="63500" rtlCol="0" anchor="ctr"/>
          <a:lstStyle/>
          <a:p>
            <a:pPr algn="ctr">
              <a:defRPr/>
            </a:pPr>
          </a:p>
        </p:txBody>
      </p:sp>
      <p:sp>
        <p:nvSpPr>
          <p:cNvPr id="3" name="AutoShape 3"/>
          <p:cNvSpPr/>
          <p:nvPr/>
        </p:nvSpPr>
        <p:spPr>
          <a:xfrm>
            <a:off x="0" y="2794000"/>
            <a:ext cx="12192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03 </a:t>
            </a:r>
            <a:r>
              <a:rPr lang="zh-CN" altLang="en-US" sz="4000" b="1">
                <a:solidFill>
                  <a:srgbClr val="FFFFFF"/>
                </a:solidFill>
                <a:latin typeface="Noto Sans SC" panose="020B0200000000000000" charset="-122"/>
                <a:ea typeface="Noto Sans SC" panose="020B0200000000000000" charset="-122"/>
                <a:cs typeface="Noto Sans SC" panose="020B0200000000000000" charset="-122"/>
                <a:sym typeface="+mn-ea"/>
              </a:rPr>
              <a:t>自动化测试设计与实施</a:t>
            </a:r>
            <a:endParaRPr lang="en-US" sz="1100"/>
          </a:p>
        </p:txBody>
      </p:sp>
      <p:sp>
        <p:nvSpPr>
          <p:cNvPr id="4" name="AutoShape 4"/>
          <p:cNvSpPr/>
          <p:nvPr/>
        </p:nvSpPr>
        <p:spPr>
          <a:xfrm>
            <a:off x="5334000" y="4191000"/>
            <a:ext cx="1524000" cy="50800"/>
          </a:xfrm>
          <a:prstGeom prst="roundRect">
            <a:avLst>
              <a:gd name="adj" fmla="val 0"/>
            </a:avLst>
          </a:prstGeom>
          <a:solidFill>
            <a:srgbClr val="34D399">
              <a:alpha val="100000"/>
            </a:srgbClr>
          </a:solidFill>
          <a:ln cap="flat" cmpd="sng">
            <a:solidFill>
              <a:srgbClr val="1BB980">
                <a:alpha val="10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0" y="5334000"/>
            <a:ext cx="12192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0" i="0" u="none" strike="noStrike" spc="400">
                <a:solidFill>
                  <a:srgbClr val="FFFFFF">
                    <a:alpha val="5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DATA DRIVEN EXPERIMENTAL FINDINGS</a:t>
            </a:r>
            <a:endParaRPr lang="en-US" sz="1100"/>
          </a:p>
        </p:txBody>
      </p:sp>
      <p:sp>
        <p:nvSpPr>
          <p:cNvPr id="6" name="AutoShape 6"/>
          <p:cNvSpPr/>
          <p:nvPr/>
        </p:nvSpPr>
        <p:spPr>
          <a:xfrm>
            <a:off x="609600" y="609600"/>
            <a:ext cx="508000" cy="50800"/>
          </a:xfrm>
          <a:prstGeom prst="roundRect">
            <a:avLst>
              <a:gd name="adj" fmla="val 0"/>
            </a:avLst>
          </a:prstGeom>
          <a:solidFill>
            <a:srgbClr val="34D399">
              <a:alpha val="6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609600" y="609600"/>
            <a:ext cx="50800" cy="508000"/>
          </a:xfrm>
          <a:prstGeom prst="roundRect">
            <a:avLst>
              <a:gd name="adj" fmla="val 0"/>
            </a:avLst>
          </a:prstGeom>
          <a:solidFill>
            <a:srgbClr val="34D399">
              <a:alpha val="6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11074400" y="6197600"/>
            <a:ext cx="508000" cy="50800"/>
          </a:xfrm>
          <a:prstGeom prst="roundRect">
            <a:avLst>
              <a:gd name="adj" fmla="val 0"/>
            </a:avLst>
          </a:prstGeom>
          <a:solidFill>
            <a:srgbClr val="34D399">
              <a:alpha val="6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11531600" y="5740400"/>
            <a:ext cx="50800" cy="508000"/>
          </a:xfrm>
          <a:prstGeom prst="roundRect">
            <a:avLst>
              <a:gd name="adj" fmla="val 0"/>
            </a:avLst>
          </a:prstGeom>
          <a:solidFill>
            <a:srgbClr val="34D399">
              <a:alpha val="6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03 </a:t>
            </a:r>
            <a:r>
              <a:rPr lang="zh-CN" altLang="en-US" sz="32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测试案例</a:t>
            </a:r>
            <a:r>
              <a:rPr lang="zh-CN" altLang="en-US" sz="32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设计</a:t>
            </a:r>
            <a:endParaRPr lang="zh-CN" altLang="en-US" sz="32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7" name="图片 6"/>
          <p:cNvPicPr>
            <a:picLocks noChangeAspect="1"/>
          </p:cNvPicPr>
          <p:nvPr/>
        </p:nvPicPr>
        <p:blipFill>
          <a:blip r:embed="rId2"/>
          <a:stretch>
            <a:fillRect/>
          </a:stretch>
        </p:blipFill>
        <p:spPr>
          <a:xfrm>
            <a:off x="190500" y="1195070"/>
            <a:ext cx="11811000" cy="3427730"/>
          </a:xfrm>
          <a:prstGeom prst="rect">
            <a:avLst/>
          </a:prstGeom>
        </p:spPr>
      </p:pic>
      <p:sp>
        <p:nvSpPr>
          <p:cNvPr id="8" name="AutoShape 3"/>
          <p:cNvSpPr/>
          <p:nvPr/>
        </p:nvSpPr>
        <p:spPr>
          <a:xfrm>
            <a:off x="477520" y="4622800"/>
            <a:ext cx="10668000" cy="762000"/>
          </a:xfrm>
          <a:prstGeom prst="rect">
            <a:avLst/>
          </a:prstGeom>
          <a:noFill/>
          <a:ln w="12700" cap="flat" cmpd="sng">
            <a:noFill/>
            <a:prstDash val="solid"/>
            <a:round/>
          </a:ln>
        </p:spPr>
        <p:txBody>
          <a:bodyPr vert="horz" wrap="square" lIns="0" tIns="0" rIns="0" bIns="0" rtlCol="0" anchor="ctr" anchorCtr="0"/>
          <a:p>
            <a:pPr marL="0" indent="0" algn="l">
              <a:lnSpc>
                <a:spcPct val="125000"/>
              </a:lnSpc>
              <a:defRPr/>
            </a:pPr>
            <a:r>
              <a:rPr lang="en-US" sz="32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03 </a:t>
            </a:r>
            <a:r>
              <a:rPr lang="zh-CN" altLang="en-US" sz="32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测试方法</a:t>
            </a:r>
            <a:endParaRPr lang="zh-CN" altLang="en-US" sz="32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矩形 8"/>
          <p:cNvSpPr/>
          <p:nvPr/>
        </p:nvSpPr>
        <p:spPr>
          <a:xfrm>
            <a:off x="1316355" y="5511165"/>
            <a:ext cx="8096885" cy="615315"/>
          </a:xfrm>
          <a:prstGeom prst="rect">
            <a:avLst/>
          </a:prstGeom>
          <a:noFill/>
          <a:ln w="12700" cap="flat" cmpd="sng">
            <a:noFill/>
            <a:prstDash val="solid"/>
            <a:round/>
          </a:ln>
        </p:spPr>
        <p:txBody>
          <a:bodyPr vert="horz" wrap="square" lIns="0" tIns="0" rIns="0" bIns="0" rtlCol="0" anchor="ctr" anchorCtr="0">
            <a:noAutofit/>
          </a:bodyPr>
          <a:p>
            <a:pPr lvl="0" algn="l">
              <a:lnSpc>
                <a:spcPct val="125000"/>
              </a:lnSpc>
              <a:buSzTx/>
              <a:defRPr/>
            </a:pPr>
            <a:r>
              <a:rPr lang="en-US" sz="2000" b="1">
                <a:solidFill>
                  <a:schemeClr val="bg1"/>
                </a:solidFill>
                <a:latin typeface="Noto Sans SC" panose="020B0200000000000000" charset="-122"/>
                <a:ea typeface="Noto Sans SC" panose="020B0200000000000000" charset="-122"/>
                <a:cs typeface="Noto Sans SC" panose="020B0200000000000000" charset="-122"/>
                <a:sym typeface="+mn-ea"/>
              </a:rPr>
              <a:t>等价类划分</a:t>
            </a:r>
            <a:r>
              <a:rPr lang="en-US" sz="2000" b="1">
                <a:solidFill>
                  <a:schemeClr val="bg1"/>
                </a:solidFill>
                <a:latin typeface="Noto Sans SC" panose="020B0200000000000000" charset="-122"/>
                <a:ea typeface="Noto Sans SC" panose="020B0200000000000000" charset="-122"/>
                <a:cs typeface="Noto Sans SC" panose="020B0200000000000000" charset="-122"/>
                <a:sym typeface="+mn-ea"/>
              </a:rPr>
              <a:t>、</a:t>
            </a:r>
            <a:r>
              <a:rPr lang="en-US" sz="2000" b="1">
                <a:solidFill>
                  <a:schemeClr val="bg1"/>
                </a:solidFill>
                <a:latin typeface="Noto Sans SC" panose="020B0200000000000000" charset="-122"/>
                <a:ea typeface="Noto Sans SC" panose="020B0200000000000000" charset="-122"/>
                <a:cs typeface="Noto Sans SC" panose="020B0200000000000000" charset="-122"/>
                <a:sym typeface="+mn-ea"/>
              </a:rPr>
              <a:t>边界</a:t>
            </a:r>
            <a:r>
              <a:rPr lang="en-US" sz="2000" b="1">
                <a:solidFill>
                  <a:schemeClr val="bg1"/>
                </a:solidFill>
                <a:latin typeface="Noto Sans SC" panose="020B0200000000000000" charset="-122"/>
                <a:ea typeface="Noto Sans SC" panose="020B0200000000000000" charset="-122"/>
                <a:cs typeface="Noto Sans SC" panose="020B0200000000000000" charset="-122"/>
                <a:sym typeface="+mn-ea"/>
              </a:rPr>
              <a:t>值</a:t>
            </a:r>
            <a:r>
              <a:rPr lang="en-US" sz="2000" b="1">
                <a:solidFill>
                  <a:schemeClr val="bg1"/>
                </a:solidFill>
                <a:latin typeface="Noto Sans SC" panose="020B0200000000000000" charset="-122"/>
                <a:ea typeface="Noto Sans SC" panose="020B0200000000000000" charset="-122"/>
                <a:cs typeface="Noto Sans SC" panose="020B0200000000000000" charset="-122"/>
                <a:sym typeface="+mn-ea"/>
              </a:rPr>
              <a:t>分析、</a:t>
            </a:r>
            <a:r>
              <a:rPr lang="zh-CN" altLang="en-US" sz="2000" b="1">
                <a:solidFill>
                  <a:schemeClr val="bg1"/>
                </a:solidFill>
                <a:latin typeface="Noto Sans SC" panose="020B0200000000000000" charset="-122"/>
                <a:ea typeface="Noto Sans SC" panose="020B0200000000000000" charset="-122"/>
                <a:cs typeface="Noto Sans SC" panose="020B0200000000000000" charset="-122"/>
                <a:sym typeface="+mn-ea"/>
              </a:rPr>
              <a:t>差异测试、</a:t>
            </a:r>
            <a:r>
              <a:rPr lang="zh-CN" altLang="en-US" sz="2000" b="1">
                <a:solidFill>
                  <a:schemeClr val="bg1"/>
                </a:solidFill>
                <a:latin typeface="Noto Sans SC" panose="020B0200000000000000" charset="-122"/>
                <a:ea typeface="Noto Sans SC" panose="020B0200000000000000" charset="-122"/>
                <a:cs typeface="Noto Sans SC" panose="020B0200000000000000" charset="-122"/>
                <a:sym typeface="+mn-ea"/>
              </a:rPr>
              <a:t>重复性测试、状态转换测试</a:t>
            </a:r>
            <a:endParaRPr lang="zh-CN" altLang="en-US" sz="2000" b="1">
              <a:solidFill>
                <a:schemeClr val="bg1"/>
              </a:solidFill>
              <a:latin typeface="Noto Sans SC" panose="020B0200000000000000" charset="-122"/>
              <a:ea typeface="Noto Sans SC" panose="020B0200000000000000" charset="-122"/>
              <a:cs typeface="Noto Sans SC" panose="020B0200000000000000" charset="-122"/>
              <a:sym typeface="+mn-e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03 </a:t>
            </a:r>
            <a:r>
              <a:rPr lang="zh-CN" altLang="en-US" sz="32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自动化及</a:t>
            </a:r>
            <a:r>
              <a:rPr lang="zh-CN" altLang="en-US" sz="32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半自动化测试实施</a:t>
            </a:r>
            <a:r>
              <a:rPr lang="zh-CN" altLang="en-US" sz="32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情况</a:t>
            </a:r>
            <a:endParaRPr lang="zh-CN" altLang="en-US" sz="32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4" name="图片 3"/>
          <p:cNvPicPr>
            <a:picLocks noChangeAspect="1"/>
          </p:cNvPicPr>
          <p:nvPr/>
        </p:nvPicPr>
        <p:blipFill>
          <a:blip r:embed="rId2"/>
          <a:stretch>
            <a:fillRect/>
          </a:stretch>
        </p:blipFill>
        <p:spPr>
          <a:xfrm>
            <a:off x="-909320" y="1167765"/>
            <a:ext cx="5861685" cy="5471795"/>
          </a:xfrm>
          <a:prstGeom prst="rect">
            <a:avLst/>
          </a:prstGeom>
        </p:spPr>
      </p:pic>
      <p:pic>
        <p:nvPicPr>
          <p:cNvPr id="5" name="图片 4"/>
          <p:cNvPicPr>
            <a:picLocks noChangeAspect="1"/>
          </p:cNvPicPr>
          <p:nvPr/>
        </p:nvPicPr>
        <p:blipFill>
          <a:blip r:embed="rId3"/>
          <a:stretch>
            <a:fillRect/>
          </a:stretch>
        </p:blipFill>
        <p:spPr>
          <a:xfrm>
            <a:off x="5052060" y="1167765"/>
            <a:ext cx="7797165" cy="557466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495935" y="133985"/>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03 </a:t>
            </a:r>
            <a:r>
              <a:rPr lang="zh-CN" altLang="en-US" sz="32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典型</a:t>
            </a:r>
            <a:r>
              <a:rPr lang="en-US" altLang="zh-CN" sz="32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bug</a:t>
            </a:r>
            <a:r>
              <a:rPr lang="zh-CN" altLang="en-US" sz="32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及</a:t>
            </a:r>
            <a:r>
              <a:rPr lang="zh-CN" altLang="en-US" sz="32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讲解</a:t>
            </a:r>
            <a:endParaRPr lang="zh-CN" altLang="en-US" sz="32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6" name="图片 5" descr="BUG001"/>
          <p:cNvPicPr>
            <a:picLocks noChangeAspect="1"/>
          </p:cNvPicPr>
          <p:nvPr/>
        </p:nvPicPr>
        <p:blipFill>
          <a:blip r:embed="rId2"/>
          <a:stretch>
            <a:fillRect/>
          </a:stretch>
        </p:blipFill>
        <p:spPr>
          <a:xfrm>
            <a:off x="-276225" y="895985"/>
            <a:ext cx="2010410" cy="4963160"/>
          </a:xfrm>
          <a:prstGeom prst="rect">
            <a:avLst/>
          </a:prstGeom>
        </p:spPr>
      </p:pic>
      <p:pic>
        <p:nvPicPr>
          <p:cNvPr id="7" name="图片 6" descr="BUG002"/>
          <p:cNvPicPr>
            <a:picLocks noChangeAspect="1"/>
          </p:cNvPicPr>
          <p:nvPr/>
        </p:nvPicPr>
        <p:blipFill>
          <a:blip r:embed="rId3"/>
          <a:stretch>
            <a:fillRect/>
          </a:stretch>
        </p:blipFill>
        <p:spPr>
          <a:xfrm>
            <a:off x="1734185" y="895985"/>
            <a:ext cx="7195185" cy="4963160"/>
          </a:xfrm>
          <a:prstGeom prst="rect">
            <a:avLst/>
          </a:prstGeom>
        </p:spPr>
      </p:pic>
      <p:pic>
        <p:nvPicPr>
          <p:cNvPr id="8" name="图片 7" descr="BUG003"/>
          <p:cNvPicPr>
            <a:picLocks noChangeAspect="1"/>
          </p:cNvPicPr>
          <p:nvPr/>
        </p:nvPicPr>
        <p:blipFill>
          <a:blip r:embed="rId4"/>
          <a:stretch>
            <a:fillRect/>
          </a:stretch>
        </p:blipFill>
        <p:spPr>
          <a:xfrm>
            <a:off x="8929370" y="895985"/>
            <a:ext cx="7195185" cy="4846955"/>
          </a:xfrm>
          <a:prstGeom prst="rect">
            <a:avLst/>
          </a:prstGeom>
        </p:spPr>
      </p:pic>
      <p:sp>
        <p:nvSpPr>
          <p:cNvPr id="9" name="文本框 8"/>
          <p:cNvSpPr txBox="1"/>
          <p:nvPr/>
        </p:nvSpPr>
        <p:spPr>
          <a:xfrm>
            <a:off x="580390" y="6216650"/>
            <a:ext cx="9674860" cy="398780"/>
          </a:xfrm>
          <a:prstGeom prst="rect">
            <a:avLst/>
          </a:prstGeom>
          <a:noFill/>
        </p:spPr>
        <p:txBody>
          <a:bodyPr wrap="square" rtlCol="0">
            <a:spAutoFit/>
          </a:bodyPr>
          <a:p>
            <a:r>
              <a:rPr lang="zh-CN" altLang="en-US" sz="2000">
                <a:solidFill>
                  <a:schemeClr val="bg1"/>
                </a:solidFill>
              </a:rPr>
              <a:t>相同参数重复提交报告时旧报告文件被覆盖</a:t>
            </a:r>
            <a:endParaRPr lang="zh-CN" altLang="en-US" sz="2000">
              <a:solidFill>
                <a:schemeClr val="bg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2794000"/>
            <a:ext cx="12192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04 </a:t>
            </a:r>
            <a:r>
              <a:rPr lang="zh-CN" altLang="en-US" sz="4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测试结论</a:t>
            </a:r>
            <a:endParaRPr lang="zh-CN" altLang="en-US" sz="4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5" name="AutoShape 5"/>
          <p:cNvSpPr/>
          <p:nvPr/>
        </p:nvSpPr>
        <p:spPr>
          <a:xfrm>
            <a:off x="5080000" y="5778500"/>
            <a:ext cx="2032000" cy="381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04 总结与讨论</a:t>
            </a:r>
            <a:endParaRPr lang="en-US" sz="1100"/>
          </a:p>
        </p:txBody>
      </p:sp>
      <p:sp>
        <p:nvSpPr>
          <p:cNvPr id="4" name="AutoShape 4"/>
          <p:cNvSpPr/>
          <p:nvPr>
            <p:custDataLst>
              <p:tags r:id="rId2"/>
            </p:custDataLst>
          </p:nvPr>
        </p:nvSpPr>
        <p:spPr>
          <a:xfrm>
            <a:off x="762000" y="1905000"/>
            <a:ext cx="3378200" cy="3937000"/>
          </a:xfrm>
          <a:prstGeom prst="roundRect">
            <a:avLst>
              <a:gd name="adj" fmla="val 0"/>
            </a:avLst>
          </a:prstGeom>
          <a:solidFill>
            <a:srgbClr val="34D399">
              <a:alpha val="8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custDataLst>
              <p:tags r:id="rId3"/>
            </p:custDataLst>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2209800"/>
            <a:ext cx="355600" cy="355600"/>
          </a:xfrm>
          <a:prstGeom prst="rect">
            <a:avLst/>
          </a:prstGeom>
        </p:spPr>
      </p:pic>
      <p:sp>
        <p:nvSpPr>
          <p:cNvPr id="6" name="AutoShape 6"/>
          <p:cNvSpPr/>
          <p:nvPr>
            <p:custDataLst>
              <p:tags r:id="rId6"/>
            </p:custDataLst>
          </p:nvPr>
        </p:nvSpPr>
        <p:spPr>
          <a:xfrm>
            <a:off x="1473200" y="22098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20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测试说明</a:t>
            </a:r>
            <a:endParaRPr lang="zh-CN" altLang="en-US" sz="20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7" name="Connector 7"/>
          <p:cNvCxnSpPr/>
          <p:nvPr>
            <p:custDataLst>
              <p:tags r:id="rId7"/>
            </p:custDataLst>
          </p:nvPr>
        </p:nvCxnSpPr>
        <p:spPr>
          <a:xfrm rot="-15211">
            <a:off x="1016014" y="2787650"/>
            <a:ext cx="2870200" cy="12700"/>
          </a:xfrm>
          <a:prstGeom prst="line">
            <a:avLst/>
          </a:prstGeom>
          <a:solidFill>
            <a:srgbClr val="DEE0E3">
              <a:alpha val="100000"/>
            </a:srgbClr>
          </a:solidFill>
          <a:ln w="12700" cap="flat" cmpd="sng">
            <a:solidFill>
              <a:srgbClr val="34D399">
                <a:alpha val="20000"/>
              </a:srgbClr>
            </a:solidFill>
            <a:prstDash val="solid"/>
            <a:round/>
            <a:headEnd type="none" w="med" len="med"/>
            <a:tailEnd type="none" w="med" len="med"/>
          </a:ln>
        </p:spPr>
      </p:cxnSp>
      <p:sp>
        <p:nvSpPr>
          <p:cNvPr id="8" name="AutoShape 8"/>
          <p:cNvSpPr/>
          <p:nvPr>
            <p:custDataLst>
              <p:tags r:id="rId8"/>
            </p:custDataLst>
          </p:nvPr>
        </p:nvSpPr>
        <p:spPr>
          <a:xfrm>
            <a:off x="1016000" y="3048000"/>
            <a:ext cx="2870200" cy="2667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zh-CN" altLang="en-US" sz="14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本次测试共围绕浏览器模块设计并执行测试用例</a:t>
            </a:r>
            <a:r>
              <a:rPr lang="en-US" altLang="zh-CN" sz="14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 32 </a:t>
            </a:r>
            <a:r>
              <a:rPr lang="zh-CN" altLang="en-US" sz="14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条，其中自动化测试覆盖</a:t>
            </a:r>
            <a:r>
              <a:rPr lang="en-US" altLang="zh-CN" sz="14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 16 </a:t>
            </a:r>
            <a:r>
              <a:rPr lang="zh-CN" altLang="en-US" sz="14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条，半自动化或人工复核覆盖其余测试项。测试范围包括服务端路由、报告接口、</a:t>
            </a:r>
            <a:r>
              <a:rPr lang="en-US" altLang="zh-CN" sz="14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calc </a:t>
            </a:r>
            <a:r>
              <a:rPr lang="zh-CN" altLang="en-US" sz="14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实验页面、</a:t>
            </a:r>
            <a:r>
              <a:rPr lang="en-US" altLang="zh-CN" sz="14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env </a:t>
            </a:r>
            <a:r>
              <a:rPr lang="zh-CN" altLang="en-US" sz="14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实验页面、</a:t>
            </a:r>
            <a:r>
              <a:rPr lang="en-US" altLang="zh-CN" sz="14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props </a:t>
            </a:r>
            <a:r>
              <a:rPr lang="zh-CN" altLang="en-US" sz="14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实验页面、</a:t>
            </a:r>
            <a:r>
              <a:rPr lang="en-US" altLang="zh-CN" sz="14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container </a:t>
            </a:r>
            <a:r>
              <a:rPr lang="zh-CN" altLang="en-US" sz="14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实验页面、浏览器</a:t>
            </a:r>
            <a:r>
              <a:rPr lang="en-US" altLang="zh-CN" sz="14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 PoC </a:t>
            </a:r>
            <a:r>
              <a:rPr lang="zh-CN" altLang="en-US" sz="14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页面以及部分浏览器扩展相关测试。</a:t>
            </a:r>
            <a:endParaRPr lang="zh-CN" altLang="en-US" sz="14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custDataLst>
              <p:tags r:id="rId9"/>
            </p:custDataLst>
          </p:nvPr>
        </p:nvSpPr>
        <p:spPr>
          <a:xfrm>
            <a:off x="4406900" y="1905000"/>
            <a:ext cx="3378200" cy="3937000"/>
          </a:xfrm>
          <a:prstGeom prst="roundRect">
            <a:avLst>
              <a:gd name="adj" fmla="val 0"/>
            </a:avLst>
          </a:prstGeom>
          <a:solidFill>
            <a:srgbClr val="34D399">
              <a:alpha val="8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custDataLst>
              <p:tags r:id="rId10"/>
            </p:custDataLst>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4660900" y="2209800"/>
            <a:ext cx="355600" cy="355600"/>
          </a:xfrm>
          <a:prstGeom prst="rect">
            <a:avLst/>
          </a:prstGeom>
        </p:spPr>
      </p:pic>
      <p:sp>
        <p:nvSpPr>
          <p:cNvPr id="11" name="AutoShape 11"/>
          <p:cNvSpPr/>
          <p:nvPr>
            <p:custDataLst>
              <p:tags r:id="rId13"/>
            </p:custDataLst>
          </p:nvPr>
        </p:nvSpPr>
        <p:spPr>
          <a:xfrm>
            <a:off x="5118100" y="22098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20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测试结论</a:t>
            </a:r>
            <a:endParaRPr lang="zh-CN" altLang="en-US" sz="20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12" name="Connector 12"/>
          <p:cNvCxnSpPr/>
          <p:nvPr>
            <p:custDataLst>
              <p:tags r:id="rId14"/>
            </p:custDataLst>
          </p:nvPr>
        </p:nvCxnSpPr>
        <p:spPr>
          <a:xfrm rot="-15211">
            <a:off x="4660914" y="2787650"/>
            <a:ext cx="2870200" cy="12700"/>
          </a:xfrm>
          <a:prstGeom prst="line">
            <a:avLst/>
          </a:prstGeom>
          <a:solidFill>
            <a:srgbClr val="DEE0E3">
              <a:alpha val="100000"/>
            </a:srgbClr>
          </a:solidFill>
          <a:ln w="12700" cap="flat" cmpd="sng">
            <a:solidFill>
              <a:srgbClr val="34D399">
                <a:alpha val="20000"/>
              </a:srgbClr>
            </a:solidFill>
            <a:prstDash val="solid"/>
            <a:round/>
            <a:headEnd type="none" w="med" len="med"/>
            <a:tailEnd type="none" w="med" len="med"/>
          </a:ln>
        </p:spPr>
      </p:cxnSp>
      <p:sp>
        <p:nvSpPr>
          <p:cNvPr id="13" name="AutoShape 13"/>
          <p:cNvSpPr/>
          <p:nvPr>
            <p:custDataLst>
              <p:tags r:id="rId15"/>
            </p:custDataLst>
          </p:nvPr>
        </p:nvSpPr>
        <p:spPr>
          <a:xfrm>
            <a:off x="4660900" y="3048000"/>
            <a:ext cx="2870200" cy="2667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4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主要功能基本可用，但未达到发布标准，暂不建议直接发布</a:t>
            </a:r>
            <a:r>
              <a:rPr lang="en-US" altLang="zh-CN" sz="14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4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a:t>
            </a:r>
            <a:r>
              <a:rPr lang="en-US" altLang="zh-CN" sz="14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zh-CN" altLang="en-US" sz="14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需修复</a:t>
            </a:r>
            <a:r>
              <a:rPr lang="en-US" altLang="zh-CN" sz="14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 BUG-001</a:t>
            </a:r>
            <a:r>
              <a:rPr lang="zh-CN" altLang="en-US" sz="14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，并完成</a:t>
            </a:r>
            <a:r>
              <a:rPr lang="en-US" altLang="zh-CN" sz="14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 M1-20</a:t>
            </a:r>
            <a:r>
              <a:rPr lang="zh-CN" altLang="en-US" sz="14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altLang="zh-CN" sz="14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M1-23</a:t>
            </a:r>
            <a:r>
              <a:rPr lang="zh-CN" altLang="en-US" sz="14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altLang="zh-CN" sz="14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M1-06/M1-07 </a:t>
            </a:r>
            <a:r>
              <a:rPr lang="zh-CN" altLang="en-US" sz="14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及</a:t>
            </a:r>
            <a:r>
              <a:rPr lang="en-US" altLang="zh-CN" sz="14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 Autotest/Test_Module1_01.py </a:t>
            </a:r>
            <a:r>
              <a:rPr lang="zh-CN" altLang="en-US" sz="14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回归，确认相关失败项转为</a:t>
            </a:r>
            <a:r>
              <a:rPr lang="en-US" altLang="zh-CN" sz="14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 OK </a:t>
            </a:r>
            <a:r>
              <a:rPr lang="zh-CN" altLang="en-US" sz="14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后，再评估是否作为最终版本提交</a:t>
            </a:r>
            <a:endParaRPr lang="zh-CN" altLang="en-US" sz="14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4" name="AutoShape 14"/>
          <p:cNvSpPr/>
          <p:nvPr>
            <p:custDataLst>
              <p:tags r:id="rId16"/>
            </p:custDataLst>
          </p:nvPr>
        </p:nvSpPr>
        <p:spPr>
          <a:xfrm>
            <a:off x="8051800" y="1905000"/>
            <a:ext cx="3378200" cy="3937000"/>
          </a:xfrm>
          <a:prstGeom prst="roundRect">
            <a:avLst>
              <a:gd name="adj" fmla="val 0"/>
            </a:avLst>
          </a:prstGeom>
          <a:solidFill>
            <a:srgbClr val="34D399">
              <a:alpha val="8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custDataLst>
              <p:tags r:id="rId17"/>
            </p:custDataLst>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8305800" y="2209800"/>
            <a:ext cx="355600" cy="355600"/>
          </a:xfrm>
          <a:prstGeom prst="rect">
            <a:avLst/>
          </a:prstGeom>
        </p:spPr>
      </p:pic>
      <p:sp>
        <p:nvSpPr>
          <p:cNvPr id="16" name="AutoShape 16"/>
          <p:cNvSpPr/>
          <p:nvPr>
            <p:custDataLst>
              <p:tags r:id="rId20"/>
            </p:custDataLst>
          </p:nvPr>
        </p:nvSpPr>
        <p:spPr>
          <a:xfrm>
            <a:off x="8763000" y="2209800"/>
            <a:ext cx="2540000" cy="381000"/>
          </a:xfrm>
          <a:prstGeom prst="rect">
            <a:avLst/>
          </a:prstGeom>
          <a:noFill/>
          <a:ln w="12700" cap="flat" cmpd="sng">
            <a:noFill/>
            <a:prstDash val="solid"/>
            <a:round/>
          </a:ln>
        </p:spPr>
        <p:txBody>
          <a:bodyPr vert="horz" wrap="square" lIns="0" tIns="0" rIns="0" bIns="0" rtlCol="0" anchor="ctr" anchorCtr="0">
            <a:noAutofit/>
          </a:bodyPr>
          <a:lstStyle/>
          <a:p>
            <a:pPr lvl="0" algn="l">
              <a:lnSpc>
                <a:spcPct val="125000"/>
              </a:lnSpc>
              <a:buSzTx/>
              <a:defRPr/>
            </a:pPr>
            <a:r>
              <a:rPr lang="zh-CN" altLang="en-US" sz="2000" b="1">
                <a:solidFill>
                  <a:srgbClr val="34D399"/>
                </a:solidFill>
                <a:latin typeface="Noto Sans SC" panose="020B0200000000000000" charset="-122"/>
                <a:ea typeface="Noto Sans SC" panose="020B0200000000000000" charset="-122"/>
                <a:cs typeface="Noto Sans SC" panose="020B0200000000000000" charset="-122"/>
                <a:sym typeface="+mn-ea"/>
              </a:rPr>
              <a:t>典型踩坑</a:t>
            </a:r>
            <a:r>
              <a:rPr lang="zh-CN" altLang="en-US" sz="2000" b="1">
                <a:solidFill>
                  <a:srgbClr val="34D399"/>
                </a:solidFill>
                <a:latin typeface="Noto Sans SC" panose="020B0200000000000000" charset="-122"/>
                <a:ea typeface="Noto Sans SC" panose="020B0200000000000000" charset="-122"/>
                <a:cs typeface="Noto Sans SC" panose="020B0200000000000000" charset="-122"/>
                <a:sym typeface="+mn-ea"/>
              </a:rPr>
              <a:t>收获</a:t>
            </a:r>
            <a:endParaRPr lang="zh-CN" altLang="en-US" sz="2000" b="1">
              <a:solidFill>
                <a:srgbClr val="34D399"/>
              </a:solidFill>
              <a:latin typeface="Noto Sans SC" panose="020B0200000000000000" charset="-122"/>
              <a:ea typeface="Noto Sans SC" panose="020B0200000000000000" charset="-122"/>
              <a:cs typeface="Noto Sans SC" panose="020B0200000000000000" charset="-122"/>
              <a:sym typeface="+mn-ea"/>
            </a:endParaRPr>
          </a:p>
        </p:txBody>
      </p:sp>
      <p:cxnSp>
        <p:nvCxnSpPr>
          <p:cNvPr id="17" name="Connector 17"/>
          <p:cNvCxnSpPr/>
          <p:nvPr>
            <p:custDataLst>
              <p:tags r:id="rId21"/>
            </p:custDataLst>
          </p:nvPr>
        </p:nvCxnSpPr>
        <p:spPr>
          <a:xfrm rot="-15211">
            <a:off x="8305814" y="2787650"/>
            <a:ext cx="2870200" cy="12700"/>
          </a:xfrm>
          <a:prstGeom prst="line">
            <a:avLst/>
          </a:prstGeom>
          <a:solidFill>
            <a:srgbClr val="DEE0E3">
              <a:alpha val="100000"/>
            </a:srgbClr>
          </a:solidFill>
          <a:ln w="12700" cap="flat" cmpd="sng">
            <a:solidFill>
              <a:srgbClr val="34D399">
                <a:alpha val="20000"/>
              </a:srgbClr>
            </a:solidFill>
            <a:prstDash val="solid"/>
            <a:round/>
            <a:headEnd type="none" w="med" len="med"/>
            <a:tailEnd type="none" w="med" len="med"/>
          </a:ln>
        </p:spPr>
      </p:cxnSp>
      <p:sp>
        <p:nvSpPr>
          <p:cNvPr id="18" name="AutoShape 18"/>
          <p:cNvSpPr/>
          <p:nvPr>
            <p:custDataLst>
              <p:tags r:id="rId22"/>
            </p:custDataLst>
          </p:nvPr>
        </p:nvSpPr>
        <p:spPr>
          <a:xfrm>
            <a:off x="8305800" y="3048000"/>
            <a:ext cx="2870200" cy="2667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4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文件名不能只依赖业务参数，重复请求天然会碰撞；写文件前要考虑幂等、归档或唯一标识，否则</a:t>
            </a:r>
            <a:r>
              <a:rPr lang="en-US" altLang="zh-CN" sz="14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 "w" </a:t>
            </a:r>
            <a:r>
              <a:rPr lang="zh-CN" altLang="en-US" sz="14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模式会悄悄把历史数据覆盖掉</a:t>
            </a:r>
            <a:endParaRPr lang="zh-CN" altLang="en-US" sz="14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cap="flat" cmpd="sng">
            <a:solidFill>
              <a:srgbClr val="000000">
                <a:alpha val="30000"/>
              </a:srgbClr>
            </a:solidFill>
            <a:prstDash val="solid"/>
            <a:round/>
          </a:ln>
        </p:spPr>
        <p:txBody>
          <a:bodyPr vert="horz" wrap="square" lIns="63500" tIns="63500" rIns="63500" bIns="63500" rtlCol="0" anchor="ctr"/>
          <a:lstStyle/>
          <a:p>
            <a:pPr algn="ctr">
              <a:defRPr/>
            </a:pPr>
          </a:p>
        </p:txBody>
      </p:sp>
      <p:sp>
        <p:nvSpPr>
          <p:cNvPr id="3" name="AutoShape 3"/>
          <p:cNvSpPr/>
          <p:nvPr/>
        </p:nvSpPr>
        <p:spPr>
          <a:xfrm>
            <a:off x="0" y="2540000"/>
            <a:ext cx="12192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感谢聆听</a:t>
            </a:r>
            <a:endParaRPr lang="en-US" sz="1100"/>
          </a:p>
        </p:txBody>
      </p:sp>
      <p:sp>
        <p:nvSpPr>
          <p:cNvPr id="4" name="AutoShape 4"/>
          <p:cNvSpPr/>
          <p:nvPr/>
        </p:nvSpPr>
        <p:spPr>
          <a:xfrm>
            <a:off x="0" y="4191000"/>
            <a:ext cx="12192000" cy="12700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defRPr/>
            </a:pPr>
            <a:r>
              <a:rPr lang="en-US" sz="72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Q &amp; A</a:t>
            </a:r>
            <a:endParaRPr lang="en-US" sz="1100"/>
          </a:p>
        </p:txBody>
      </p:sp>
      <p:sp>
        <p:nvSpPr>
          <p:cNvPr id="5" name="AutoShape 5"/>
          <p:cNvSpPr/>
          <p:nvPr/>
        </p:nvSpPr>
        <p:spPr>
          <a:xfrm>
            <a:off x="0" y="5651500"/>
            <a:ext cx="12192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0" i="0" u="none" strike="noStrike">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欢迎提出宝贵意见与建议，共同探讨技术与未来的无限可能</a:t>
            </a:r>
            <a:endParaRPr lang="en-US" sz="1100"/>
          </a:p>
        </p:txBody>
      </p:sp>
    </p:spTree>
  </p:cSld>
  <p:clrMapOvr>
    <a:masterClrMapping/>
  </p:clrMapOvr>
</p:sld>
</file>

<file path=ppt/tags/tag1.xml><?xml version="1.0" encoding="utf-8"?>
<p:tagLst xmlns:p="http://schemas.openxmlformats.org/presentationml/2006/main">
  <p:tag name="KSO_WM_DIAGRAM_VIRTUALLY_FRAME" val="{&quot;height&quot;:330,&quot;left&quot;:60,&quot;top&quot;:140,&quot;width&quot;:840}"/>
</p:tagLst>
</file>

<file path=ppt/tags/tag2.xml><?xml version="1.0" encoding="utf-8"?>
<p:tagLst xmlns:p="http://schemas.openxmlformats.org/presentationml/2006/main">
  <p:tag name="KSO_WM_DIAGRAM_VIRTUALLY_FRAME" val="{&quot;height&quot;:330,&quot;left&quot;:60,&quot;top&quot;:140,&quot;width&quot;:840}"/>
</p:tagLst>
</file>

<file path=ppt/tags/tag3.xml><?xml version="1.0" encoding="utf-8"?>
<p:tagLst xmlns:p="http://schemas.openxmlformats.org/presentationml/2006/main">
  <p:tag name="KSO_WM_DIAGRAM_VIRTUALLY_FRAME" val="{&quot;height&quot;:330,&quot;left&quot;:60,&quot;top&quot;:140,&quot;width&quot;:840}"/>
</p:tagLst>
</file>

<file path=ppt/tags/tag4.xml><?xml version="1.0" encoding="utf-8"?>
<p:tagLst xmlns:p="http://schemas.openxmlformats.org/presentationml/2006/main">
  <p:tag name="KSO_WM_DIAGRAM_VIRTUALLY_FRAME" val="{&quot;height&quot;:330,&quot;left&quot;:60,&quot;top&quot;:140,&quot;width&quot;:840}"/>
</p:tagLst>
</file>

<file path=ppt/tags/tag5.xml><?xml version="1.0" encoding="utf-8"?>
<p:tagLst xmlns:p="http://schemas.openxmlformats.org/presentationml/2006/main">
  <p:tag name="KSO_WM_DIAGRAM_VIRTUALLY_FRAME" val="{&quot;height&quot;:330,&quot;left&quot;:60,&quot;top&quot;:140,&quot;width&quot;:840}"/>
</p:tagLst>
</file>

<file path=ppt/tags/tag6.xml><?xml version="1.0" encoding="utf-8"?>
<p:tagLst xmlns:p="http://schemas.openxmlformats.org/presentationml/2006/main">
  <p:tag name="KSO_WM_DIAGRAM_VIRTUALLY_FRAME" val="{&quot;height&quot;:330,&quot;left&quot;:60,&quot;top&quot;:140,&quot;width&quot;:840}"/>
</p:tagLst>
</file>

<file path=ppt/tags/tag7.xml><?xml version="1.0" encoding="utf-8"?>
<p:tagLst xmlns:p="http://schemas.openxmlformats.org/presentationml/2006/main">
  <p:tag name="KSO_WM_DIAGRAM_VIRTUALLY_FRAME" val="{&quot;height&quot;:330,&quot;left&quot;:60,&quot;top&quot;:140,&quot;width&quot;:840}"/>
</p:tagLst>
</file>

<file path=ppt/tags/tag8.xml><?xml version="1.0" encoding="utf-8"?>
<p:tagLst xmlns:p="http://schemas.openxmlformats.org/presentationml/2006/main">
  <p:tag name="KSO_WM_DIAGRAM_VIRTUALLY_FRAME" val="{&quot;height&quot;:330,&quot;left&quot;:60,&quot;top&quot;:140,&quot;width&quot;:840}"/>
</p:tagLst>
</file>

<file path=ppt/tags/tag9.xml><?xml version="1.0" encoding="utf-8"?>
<p:tagLst xmlns:p="http://schemas.openxmlformats.org/presentationml/2006/main">
  <p:tag name="KSO_WM_DIAGRAM_VIRTUALLY_FRAME" val="{&quot;height&quot;:330,&quot;left&quot;:60,&quot;top&quot;:140,&quot;width&quot;:840}"/>
</p:tagLst>
</file>

<file path=ppt/tags/tag10.xml><?xml version="1.0" encoding="utf-8"?>
<p:tagLst xmlns:p="http://schemas.openxmlformats.org/presentationml/2006/main">
  <p:tag name="KSO_WM_DIAGRAM_VIRTUALLY_FRAME" val="{&quot;height&quot;:330,&quot;left&quot;:60,&quot;top&quot;:140,&quot;width&quot;:840}"/>
</p:tagLst>
</file>

<file path=ppt/tags/tag11.xml><?xml version="1.0" encoding="utf-8"?>
<p:tagLst xmlns:p="http://schemas.openxmlformats.org/presentationml/2006/main">
  <p:tag name="KSO_WM_DIAGRAM_VIRTUALLY_FRAME" val="{&quot;height&quot;:330,&quot;left&quot;:60,&quot;top&quot;:140,&quot;width&quot;:840}"/>
</p:tagLst>
</file>

<file path=ppt/tags/tag12.xml><?xml version="1.0" encoding="utf-8"?>
<p:tagLst xmlns:p="http://schemas.openxmlformats.org/presentationml/2006/main">
  <p:tag name="KSO_WM_DIAGRAM_VIRTUALLY_FRAME" val="{&quot;height&quot;:330,&quot;left&quot;:60,&quot;top&quot;:140,&quot;width&quot;:840}"/>
</p:tagLst>
</file>

<file path=ppt/tags/tag13.xml><?xml version="1.0" encoding="utf-8"?>
<p:tagLst xmlns:p="http://schemas.openxmlformats.org/presentationml/2006/main">
  <p:tag name="KSO_WM_DIAGRAM_VIRTUALLY_FRAME" val="{&quot;height&quot;:330,&quot;left&quot;:60,&quot;top&quot;:140,&quot;width&quot;:840}"/>
</p:tagLst>
</file>

<file path=ppt/tags/tag14.xml><?xml version="1.0" encoding="utf-8"?>
<p:tagLst xmlns:p="http://schemas.openxmlformats.org/presentationml/2006/main">
  <p:tag name="KSO_WM_DIAGRAM_VIRTUALLY_FRAME" val="{&quot;height&quot;:330,&quot;left&quot;:60,&quot;top&quot;:140,&quot;width&quot;:840}"/>
</p:tagLst>
</file>

<file path=ppt/tags/tag15.xml><?xml version="1.0" encoding="utf-8"?>
<p:tagLst xmlns:p="http://schemas.openxmlformats.org/presentationml/2006/main">
  <p:tag name="KSO_WM_DIAGRAM_VIRTUALLY_FRAME" val="{&quot;height&quot;:330,&quot;left&quot;:60,&quot;top&quot;:140,&quot;width&quot;:840}"/>
</p:tagLst>
</file>

<file path=ppt/tags/tag16.xml><?xml version="1.0" encoding="utf-8"?>
<p:tagLst xmlns:p="http://schemas.openxmlformats.org/presentationml/2006/main">
  <p:tag name="KSO_WM_DIAGRAM_VIRTUALLY_FRAME" val="{&quot;height&quot;:330,&quot;left&quot;:60,&quot;top&quot;:140,&quot;width&quot;:840}"/>
</p:tagLst>
</file>

<file path=ppt/tags/tag17.xml><?xml version="1.0" encoding="utf-8"?>
<p:tagLst xmlns:p="http://schemas.openxmlformats.org/presentationml/2006/main">
  <p:tag name="KSO_WM_DIAGRAM_VIRTUALLY_FRAME" val="{&quot;height&quot;:185,&quot;left&quot;:60,&quot;top&quot;:310,&quot;width&quot;:856}"/>
</p:tagLst>
</file>

<file path=ppt/tags/tag18.xml><?xml version="1.0" encoding="utf-8"?>
<p:tagLst xmlns:p="http://schemas.openxmlformats.org/presentationml/2006/main">
  <p:tag name="KSO_WM_DIAGRAM_VIRTUALLY_FRAME" val="{&quot;height&quot;:185,&quot;left&quot;:60,&quot;top&quot;:310,&quot;width&quot;:856}"/>
</p:tagLst>
</file>

<file path=ppt/tags/tag19.xml><?xml version="1.0" encoding="utf-8"?>
<p:tagLst xmlns:p="http://schemas.openxmlformats.org/presentationml/2006/main">
  <p:tag name="KSO_WM_DIAGRAM_VIRTUALLY_FRAME" val="{&quot;height&quot;:185,&quot;left&quot;:60,&quot;top&quot;:310,&quot;width&quot;:856}"/>
</p:tagLst>
</file>

<file path=ppt/tags/tag20.xml><?xml version="1.0" encoding="utf-8"?>
<p:tagLst xmlns:p="http://schemas.openxmlformats.org/presentationml/2006/main">
  <p:tag name="KSO_WM_DIAGRAM_VIRTUALLY_FRAME" val="{&quot;height&quot;:185,&quot;left&quot;:60,&quot;top&quot;:310,&quot;width&quot;:856}"/>
</p:tagLst>
</file>

<file path=ppt/tags/tag21.xml><?xml version="1.0" encoding="utf-8"?>
<p:tagLst xmlns:p="http://schemas.openxmlformats.org/presentationml/2006/main">
  <p:tag name="KSO_WM_DIAGRAM_VIRTUALLY_FRAME" val="{&quot;height&quot;:185,&quot;left&quot;:60,&quot;top&quot;:310,&quot;width&quot;:856}"/>
</p:tagLst>
</file>

<file path=ppt/tags/tag22.xml><?xml version="1.0" encoding="utf-8"?>
<p:tagLst xmlns:p="http://schemas.openxmlformats.org/presentationml/2006/main">
  <p:tag name="KSO_WM_DIAGRAM_VIRTUALLY_FRAME" val="{&quot;height&quot;:185,&quot;left&quot;:60,&quot;top&quot;:310,&quot;width&quot;:856}"/>
</p:tagLst>
</file>

<file path=ppt/tags/tag23.xml><?xml version="1.0" encoding="utf-8"?>
<p:tagLst xmlns:p="http://schemas.openxmlformats.org/presentationml/2006/main">
  <p:tag name="KSO_WM_DIAGRAM_VIRTUALLY_FRAME" val="{&quot;height&quot;:185,&quot;left&quot;:60,&quot;top&quot;:310,&quot;width&quot;:856}"/>
</p:tagLst>
</file>

<file path=ppt/tags/tag24.xml><?xml version="1.0" encoding="utf-8"?>
<p:tagLst xmlns:p="http://schemas.openxmlformats.org/presentationml/2006/main">
  <p:tag name="KSO_WM_DIAGRAM_VIRTUALLY_FRAME" val="{&quot;height&quot;:185,&quot;left&quot;:60,&quot;top&quot;:310,&quot;width&quot;:856}"/>
</p:tagLst>
</file>

<file path=ppt/tags/tag25.xml><?xml version="1.0" encoding="utf-8"?>
<p:tagLst xmlns:p="http://schemas.openxmlformats.org/presentationml/2006/main">
  <p:tag name="KSO_WM_DIAGRAM_VIRTUALLY_FRAME" val="{&quot;height&quot;:185,&quot;left&quot;:60,&quot;top&quot;:310,&quot;width&quot;:856}"/>
</p:tagLst>
</file>

<file path=ppt/tags/tag26.xml><?xml version="1.0" encoding="utf-8"?>
<p:tagLst xmlns:p="http://schemas.openxmlformats.org/presentationml/2006/main">
  <p:tag name="KSO_WM_DIAGRAM_VIRTUALLY_FRAME" val="{&quot;height&quot;:185,&quot;left&quot;:60,&quot;top&quot;:310,&quot;width&quot;:856}"/>
</p:tagLst>
</file>

<file path=ppt/tags/tag27.xml><?xml version="1.0" encoding="utf-8"?>
<p:tagLst xmlns:p="http://schemas.openxmlformats.org/presentationml/2006/main">
  <p:tag name="KSO_WM_DIAGRAM_VIRTUALLY_FRAME" val="{&quot;height&quot;:185,&quot;left&quot;:60,&quot;top&quot;:310,&quot;width&quot;:856}"/>
</p:tagLst>
</file>

<file path=ppt/tags/tag28.xml><?xml version="1.0" encoding="utf-8"?>
<p:tagLst xmlns:p="http://schemas.openxmlformats.org/presentationml/2006/main">
  <p:tag name="KSO_WM_DIAGRAM_VIRTUALLY_FRAME" val="{&quot;height&quot;:185,&quot;left&quot;:60,&quot;top&quot;:310,&quot;width&quot;:856}"/>
</p:tagLst>
</file>

<file path=ppt/tags/tag29.xml><?xml version="1.0" encoding="utf-8"?>
<p:tagLst xmlns:p="http://schemas.openxmlformats.org/presentationml/2006/main">
  <p:tag name="KSO_WM_DIAGRAM_VIRTUALLY_FRAME" val="{&quot;height&quot;:185,&quot;left&quot;:60,&quot;top&quot;:310,&quot;width&quot;:856}"/>
</p:tagLst>
</file>

<file path=ppt/tags/tag30.xml><?xml version="1.0" encoding="utf-8"?>
<p:tagLst xmlns:p="http://schemas.openxmlformats.org/presentationml/2006/main">
  <p:tag name="KSO_WM_DIAGRAM_VIRTUALLY_FRAME" val="{&quot;height&quot;:185,&quot;left&quot;:60,&quot;top&quot;:310,&quot;width&quot;:856}"/>
</p:tagLst>
</file>

<file path=ppt/tags/tag31.xml><?xml version="1.0" encoding="utf-8"?>
<p:tagLst xmlns:p="http://schemas.openxmlformats.org/presentationml/2006/main">
  <p:tag name="KSO_WM_DIAGRAM_VIRTUALLY_FRAME" val="{&quot;height&quot;:185,&quot;left&quot;:60,&quot;top&quot;:310,&quot;width&quot;:856}"/>
</p:tagLst>
</file>

<file path=ppt/tags/tag32.xml><?xml version="1.0" encoding="utf-8"?>
<p:tagLst xmlns:p="http://schemas.openxmlformats.org/presentationml/2006/main">
  <p:tag name="KSO_WM_DIAGRAM_VIRTUALLY_FRAME" val="{&quot;height&quot;:185,&quot;left&quot;:60,&quot;top&quot;:310,&quot;width&quot;:856}"/>
</p:tagLst>
</file>

<file path=ppt/tags/tag33.xml><?xml version="1.0" encoding="utf-8"?>
<p:tagLst xmlns:p="http://schemas.openxmlformats.org/presentationml/2006/main">
  <p:tag name="KSO_WM_DIAGRAM_VIRTUALLY_FRAME" val="{&quot;height&quot;:185,&quot;left&quot;:60,&quot;top&quot;:310,&quot;width&quot;:856}"/>
</p:tagLst>
</file>

<file path=ppt/tags/tag34.xml><?xml version="1.0" encoding="utf-8"?>
<p:tagLst xmlns:p="http://schemas.openxmlformats.org/presentationml/2006/main">
  <p:tag name="KSO_WM_DIAGRAM_VIRTUALLY_FRAME" val="{&quot;height&quot;:185,&quot;left&quot;:60,&quot;top&quot;:310,&quot;width&quot;:856}"/>
</p:tagLst>
</file>

<file path=ppt/tags/tag35.xml><?xml version="1.0" encoding="utf-8"?>
<p:tagLst xmlns:p="http://schemas.openxmlformats.org/presentationml/2006/main">
  <p:tag name="KSO_WM_DIAGRAM_VIRTUALLY_FRAME" val="{&quot;height&quot;:185,&quot;left&quot;:60,&quot;top&quot;:310,&quot;width&quot;:856}"/>
</p:tagLst>
</file>

<file path=ppt/tags/tag36.xml><?xml version="1.0" encoding="utf-8"?>
<p:tagLst xmlns:p="http://schemas.openxmlformats.org/presentationml/2006/main">
  <p:tag name="KSO_WM_DIAGRAM_VIRTUALLY_FRAME" val="{&quot;height&quot;:185,&quot;left&quot;:60,&quot;top&quot;:310,&quot;width&quot;:856}"/>
</p:tagLst>
</file>

<file path=ppt/tags/tag37.xml><?xml version="1.0" encoding="utf-8"?>
<p:tagLst xmlns:p="http://schemas.openxmlformats.org/presentationml/2006/main">
  <p:tag name="KSO_WM_DIAGRAM_VIRTUALLY_FRAME" val="{&quot;height&quot;:185,&quot;left&quot;:60,&quot;top&quot;:310,&quot;width&quot;:856}"/>
</p:tagLst>
</file>

<file path=ppt/tags/tag38.xml><?xml version="1.0" encoding="utf-8"?>
<p:tagLst xmlns:p="http://schemas.openxmlformats.org/presentationml/2006/main">
  <p:tag name="KSO_WM_DIAGRAM_VIRTUALLY_FRAME" val="{&quot;height&quot;:185,&quot;left&quot;:60,&quot;top&quot;:310,&quot;width&quot;:856}"/>
</p:tagLst>
</file>

<file path=ppt/tags/tag39.xml><?xml version="1.0" encoding="utf-8"?>
<p:tagLst xmlns:p="http://schemas.openxmlformats.org/presentationml/2006/main">
  <p:tag name="KSO_WM_DIAGRAM_VIRTUALLY_FRAME" val="{&quot;height&quot;:185,&quot;left&quot;:60,&quot;top&quot;:310,&quot;width&quot;:856}"/>
</p:tagLst>
</file>

<file path=ppt/tags/tag40.xml><?xml version="1.0" encoding="utf-8"?>
<p:tagLst xmlns:p="http://schemas.openxmlformats.org/presentationml/2006/main">
  <p:tag name="KSO_WM_DIAGRAM_VIRTUALLY_FRAME" val="{&quot;height&quot;:185,&quot;left&quot;:60,&quot;top&quot;:310,&quot;width&quot;:856}"/>
</p:tagLst>
</file>

<file path=ppt/tags/tag41.xml><?xml version="1.0" encoding="utf-8"?>
<p:tagLst xmlns:p="http://schemas.openxmlformats.org/presentationml/2006/main">
  <p:tag name="KSO_WM_DIAGRAM_VIRTUALLY_FRAME" val="{&quot;height&quot;:185,&quot;left&quot;:60,&quot;top&quot;:310,&quot;width&quot;:856}"/>
</p:tagLst>
</file>

<file path=ppt/tags/tag42.xml><?xml version="1.0" encoding="utf-8"?>
<p:tagLst xmlns:p="http://schemas.openxmlformats.org/presentationml/2006/main">
  <p:tag name="KSO_WM_DIAGRAM_VIRTUALLY_FRAME" val="{&quot;height&quot;:335,&quot;left&quot;:61.65,&quot;top&quot;:151.85,&quot;width&quot;:850}"/>
</p:tagLst>
</file>

<file path=ppt/tags/tag43.xml><?xml version="1.0" encoding="utf-8"?>
<p:tagLst xmlns:p="http://schemas.openxmlformats.org/presentationml/2006/main">
  <p:tag name="KSO_WM_DIAGRAM_VIRTUALLY_FRAME" val="{&quot;height&quot;:335,&quot;left&quot;:61.65,&quot;top&quot;:151.85,&quot;width&quot;:850}"/>
</p:tagLst>
</file>

<file path=ppt/tags/tag44.xml><?xml version="1.0" encoding="utf-8"?>
<p:tagLst xmlns:p="http://schemas.openxmlformats.org/presentationml/2006/main">
  <p:tag name="KSO_WM_DIAGRAM_VIRTUALLY_FRAME" val="{&quot;height&quot;:335,&quot;left&quot;:61.65,&quot;top&quot;:151.85,&quot;width&quot;:850}"/>
</p:tagLst>
</file>

<file path=ppt/tags/tag45.xml><?xml version="1.0" encoding="utf-8"?>
<p:tagLst xmlns:p="http://schemas.openxmlformats.org/presentationml/2006/main">
  <p:tag name="KSO_WM_DIAGRAM_VIRTUALLY_FRAME" val="{&quot;height&quot;:335,&quot;left&quot;:61.65,&quot;top&quot;:151.85,&quot;width&quot;:850}"/>
</p:tagLst>
</file>

<file path=ppt/tags/tag46.xml><?xml version="1.0" encoding="utf-8"?>
<p:tagLst xmlns:p="http://schemas.openxmlformats.org/presentationml/2006/main">
  <p:tag name="KSO_WM_DIAGRAM_VIRTUALLY_FRAME" val="{&quot;height&quot;:335,&quot;left&quot;:61.65,&quot;top&quot;:151.85,&quot;width&quot;:850}"/>
</p:tagLst>
</file>

<file path=ppt/tags/tag47.xml><?xml version="1.0" encoding="utf-8"?>
<p:tagLst xmlns:p="http://schemas.openxmlformats.org/presentationml/2006/main">
  <p:tag name="KSO_WM_DIAGRAM_VIRTUALLY_FRAME" val="{&quot;height&quot;:335,&quot;left&quot;:61.65,&quot;top&quot;:151.85,&quot;width&quot;:850}"/>
</p:tagLst>
</file>

<file path=ppt/tags/tag48.xml><?xml version="1.0" encoding="utf-8"?>
<p:tagLst xmlns:p="http://schemas.openxmlformats.org/presentationml/2006/main">
  <p:tag name="KSO_WM_DIAGRAM_VIRTUALLY_FRAME" val="{&quot;height&quot;:335,&quot;left&quot;:61.65,&quot;top&quot;:151.85,&quot;width&quot;:850}"/>
</p:tagLst>
</file>

<file path=ppt/tags/tag49.xml><?xml version="1.0" encoding="utf-8"?>
<p:tagLst xmlns:p="http://schemas.openxmlformats.org/presentationml/2006/main">
  <p:tag name="KSO_WM_DIAGRAM_VIRTUALLY_FRAME" val="{&quot;height&quot;:335,&quot;left&quot;:61.65,&quot;top&quot;:151.85,&quot;width&quot;:850}"/>
</p:tagLst>
</file>

<file path=ppt/tags/tag50.xml><?xml version="1.0" encoding="utf-8"?>
<p:tagLst xmlns:p="http://schemas.openxmlformats.org/presentationml/2006/main">
  <p:tag name="KSO_WM_DIAGRAM_VIRTUALLY_FRAME" val="{&quot;height&quot;:335,&quot;left&quot;:61.65,&quot;top&quot;:151.85,&quot;width&quot;:850}"/>
</p:tagLst>
</file>

<file path=ppt/tags/tag51.xml><?xml version="1.0" encoding="utf-8"?>
<p:tagLst xmlns:p="http://schemas.openxmlformats.org/presentationml/2006/main">
  <p:tag name="KSO_WM_DIAGRAM_VIRTUALLY_FRAME" val="{&quot;height&quot;:335,&quot;left&quot;:61.65,&quot;top&quot;:151.85,&quot;width&quot;:850}"/>
</p:tagLst>
</file>

<file path=ppt/tags/tag52.xml><?xml version="1.0" encoding="utf-8"?>
<p:tagLst xmlns:p="http://schemas.openxmlformats.org/presentationml/2006/main">
  <p:tag name="KSO_WM_DIAGRAM_VIRTUALLY_FRAME" val="{&quot;height&quot;:335,&quot;left&quot;:61.65,&quot;top&quot;:151.85,&quot;width&quot;:850}"/>
</p:tagLst>
</file>

<file path=ppt/tags/tag53.xml><?xml version="1.0" encoding="utf-8"?>
<p:tagLst xmlns:p="http://schemas.openxmlformats.org/presentationml/2006/main">
  <p:tag name="KSO_WM_DIAGRAM_VIRTUALLY_FRAME" val="{&quot;height&quot;:335,&quot;left&quot;:61.65,&quot;top&quot;:151.85,&quot;width&quot;:850}"/>
</p:tagLst>
</file>

<file path=ppt/tags/tag54.xml><?xml version="1.0" encoding="utf-8"?>
<p:tagLst xmlns:p="http://schemas.openxmlformats.org/presentationml/2006/main">
  <p:tag name="KSO_WM_DIAGRAM_VIRTUALLY_FRAME" val="{&quot;height&quot;:335,&quot;left&quot;:61.65,&quot;top&quot;:151.85,&quot;width&quot;:850}"/>
</p:tagLst>
</file>

<file path=ppt/tags/tag55.xml><?xml version="1.0" encoding="utf-8"?>
<p:tagLst xmlns:p="http://schemas.openxmlformats.org/presentationml/2006/main">
  <p:tag name="KSO_WM_DIAGRAM_VIRTUALLY_FRAME" val="{&quot;height&quot;:335,&quot;left&quot;:61.65,&quot;top&quot;:151.85,&quot;width&quot;:850}"/>
</p:tagLst>
</file>

<file path=ppt/tags/tag56.xml><?xml version="1.0" encoding="utf-8"?>
<p:tagLst xmlns:p="http://schemas.openxmlformats.org/presentationml/2006/main">
  <p:tag name="KSO_WM_DIAGRAM_VIRTUALLY_FRAME" val="{&quot;height&quot;:335,&quot;left&quot;:61.65,&quot;top&quot;:151.85,&quot;width&quot;:850}"/>
</p:tagLst>
</file>

<file path=ppt/tags/tag57.xml><?xml version="1.0" encoding="utf-8"?>
<p:tagLst xmlns:p="http://schemas.openxmlformats.org/presentationml/2006/main">
  <p:tag name="KSO_WM_DIAGRAM_VIRTUALLY_FRAME" val="{&quot;height&quot;:335,&quot;left&quot;:61.65,&quot;top&quot;:151.85,&quot;width&quot;:850}"/>
</p:tagLst>
</file>

<file path=ppt/tags/tag58.xml><?xml version="1.0" encoding="utf-8"?>
<p:tagLst xmlns:p="http://schemas.openxmlformats.org/presentationml/2006/main">
  <p:tag name="KSO_WM_DIAGRAM_VIRTUALLY_FRAME" val="{&quot;height&quot;:335,&quot;left&quot;:61.65,&quot;top&quot;:151.85,&quot;width&quot;:850}"/>
</p:tagLst>
</file>

<file path=ppt/tags/tag59.xml><?xml version="1.0" encoding="utf-8"?>
<p:tagLst xmlns:p="http://schemas.openxmlformats.org/presentationml/2006/main">
  <p:tag name="KSO_WM_DIAGRAM_VIRTUALLY_FRAME" val="{&quot;height&quot;:335,&quot;left&quot;:61.65,&quot;top&quot;:151.85,&quot;width&quot;:850}"/>
</p:tagLst>
</file>

<file path=ppt/tags/tag60.xml><?xml version="1.0" encoding="utf-8"?>
<p:tagLst xmlns:p="http://schemas.openxmlformats.org/presentationml/2006/main">
  <p:tag name="KSO_WM_DIAGRAM_VIRTUALLY_FRAME" val="{&quot;height&quot;:335,&quot;left&quot;:61.65,&quot;top&quot;:151.85,&quot;width&quot;:850}"/>
</p:tagLst>
</file>

<file path=ppt/tags/tag61.xml><?xml version="1.0" encoding="utf-8"?>
<p:tagLst xmlns:p="http://schemas.openxmlformats.org/presentationml/2006/main">
  <p:tag name="KSO_WM_DIAGRAM_VIRTUALLY_FRAME" val="{&quot;height&quot;:335,&quot;left&quot;:61.65,&quot;top&quot;:151.85,&quot;width&quot;:850}"/>
</p:tagLst>
</file>

<file path=ppt/tags/tag62.xml><?xml version="1.0" encoding="utf-8"?>
<p:tagLst xmlns:p="http://schemas.openxmlformats.org/presentationml/2006/main">
  <p:tag name="KSO_WM_DIAGRAM_VIRTUALLY_FRAME" val="{&quot;height&quot;:335,&quot;left&quot;:48.7,&quot;top&quot;:113.75,&quot;width&quot;:850}"/>
</p:tagLst>
</file>

<file path=ppt/tags/tag63.xml><?xml version="1.0" encoding="utf-8"?>
<p:tagLst xmlns:p="http://schemas.openxmlformats.org/presentationml/2006/main">
  <p:tag name="KSO_WM_DIAGRAM_VIRTUALLY_FRAME" val="{&quot;height&quot;:335,&quot;left&quot;:48.7,&quot;top&quot;:113.75,&quot;width&quot;:850}"/>
</p:tagLst>
</file>

<file path=ppt/tags/tag64.xml><?xml version="1.0" encoding="utf-8"?>
<p:tagLst xmlns:p="http://schemas.openxmlformats.org/presentationml/2006/main">
  <p:tag name="KSO_WM_DIAGRAM_VIRTUALLY_FRAME" val="{&quot;height&quot;:335,&quot;left&quot;:48.7,&quot;top&quot;:113.75,&quot;width&quot;:850}"/>
</p:tagLst>
</file>

<file path=ppt/tags/tag65.xml><?xml version="1.0" encoding="utf-8"?>
<p:tagLst xmlns:p="http://schemas.openxmlformats.org/presentationml/2006/main">
  <p:tag name="KSO_WM_DIAGRAM_VIRTUALLY_FRAME" val="{&quot;height&quot;:335,&quot;left&quot;:48.7,&quot;top&quot;:113.75,&quot;width&quot;:850}"/>
</p:tagLst>
</file>

<file path=ppt/tags/tag66.xml><?xml version="1.0" encoding="utf-8"?>
<p:tagLst xmlns:p="http://schemas.openxmlformats.org/presentationml/2006/main">
  <p:tag name="KSO_WM_DIAGRAM_VIRTUALLY_FRAME" val="{&quot;height&quot;:335,&quot;left&quot;:48.7,&quot;top&quot;:113.75,&quot;width&quot;:850}"/>
</p:tagLst>
</file>

<file path=ppt/tags/tag67.xml><?xml version="1.0" encoding="utf-8"?>
<p:tagLst xmlns:p="http://schemas.openxmlformats.org/presentationml/2006/main">
  <p:tag name="KSO_WM_DIAGRAM_VIRTUALLY_FRAME" val="{&quot;height&quot;:335,&quot;left&quot;:48.7,&quot;top&quot;:113.75,&quot;width&quot;:850}"/>
</p:tagLst>
</file>

<file path=ppt/tags/tag68.xml><?xml version="1.0" encoding="utf-8"?>
<p:tagLst xmlns:p="http://schemas.openxmlformats.org/presentationml/2006/main">
  <p:tag name="KSO_WM_DIAGRAM_VIRTUALLY_FRAME" val="{&quot;height&quot;:335,&quot;left&quot;:48.7,&quot;top&quot;:113.75,&quot;width&quot;:850}"/>
</p:tagLst>
</file>

<file path=ppt/tags/tag69.xml><?xml version="1.0" encoding="utf-8"?>
<p:tagLst xmlns:p="http://schemas.openxmlformats.org/presentationml/2006/main">
  <p:tag name="KSO_WM_DIAGRAM_VIRTUALLY_FRAME" val="{&quot;height&quot;:335,&quot;left&quot;:48.7,&quot;top&quot;:113.75,&quot;width&quot;:850}"/>
</p:tagLst>
</file>

<file path=ppt/tags/tag70.xml><?xml version="1.0" encoding="utf-8"?>
<p:tagLst xmlns:p="http://schemas.openxmlformats.org/presentationml/2006/main">
  <p:tag name="KSO_WM_DIAGRAM_VIRTUALLY_FRAME" val="{&quot;height&quot;:335,&quot;left&quot;:48.7,&quot;top&quot;:113.75,&quot;width&quot;:850}"/>
</p:tagLst>
</file>

<file path=ppt/tags/tag71.xml><?xml version="1.0" encoding="utf-8"?>
<p:tagLst xmlns:p="http://schemas.openxmlformats.org/presentationml/2006/main">
  <p:tag name="KSO_WM_DIAGRAM_VIRTUALLY_FRAME" val="{&quot;height&quot;:335,&quot;left&quot;:48.7,&quot;top&quot;:113.75,&quot;width&quot;:850}"/>
</p:tagLst>
</file>

<file path=ppt/tags/tag72.xml><?xml version="1.0" encoding="utf-8"?>
<p:tagLst xmlns:p="http://schemas.openxmlformats.org/presentationml/2006/main">
  <p:tag name="KSO_WM_DIAGRAM_VIRTUALLY_FRAME" val="{&quot;height&quot;:335,&quot;left&quot;:48.7,&quot;top&quot;:113.75,&quot;width&quot;:850}"/>
</p:tagLst>
</file>

<file path=ppt/tags/tag73.xml><?xml version="1.0" encoding="utf-8"?>
<p:tagLst xmlns:p="http://schemas.openxmlformats.org/presentationml/2006/main">
  <p:tag name="KSO_WM_DIAGRAM_VIRTUALLY_FRAME" val="{&quot;height&quot;:335,&quot;left&quot;:48.7,&quot;top&quot;:113.75,&quot;width&quot;:850}"/>
</p:tagLst>
</file>

<file path=ppt/tags/tag74.xml><?xml version="1.0" encoding="utf-8"?>
<p:tagLst xmlns:p="http://schemas.openxmlformats.org/presentationml/2006/main">
  <p:tag name="KSO_WM_DIAGRAM_VIRTUALLY_FRAME" val="{&quot;height&quot;:335,&quot;left&quot;:48.7,&quot;top&quot;:113.75,&quot;width&quot;:850}"/>
</p:tagLst>
</file>

<file path=ppt/tags/tag75.xml><?xml version="1.0" encoding="utf-8"?>
<p:tagLst xmlns:p="http://schemas.openxmlformats.org/presentationml/2006/main">
  <p:tag name="KSO_WM_DIAGRAM_VIRTUALLY_FRAME" val="{&quot;height&quot;:335,&quot;left&quot;:48.7,&quot;top&quot;:113.75,&quot;width&quot;:850}"/>
</p:tagLst>
</file>

<file path=ppt/tags/tag76.xml><?xml version="1.0" encoding="utf-8"?>
<p:tagLst xmlns:p="http://schemas.openxmlformats.org/presentationml/2006/main">
  <p:tag name="KSO_WM_DIAGRAM_VIRTUALLY_FRAME" val="{&quot;height&quot;:335,&quot;left&quot;:48.7,&quot;top&quot;:113.75,&quot;width&quot;:850}"/>
</p:tagLst>
</file>

<file path=ppt/tags/tag77.xml><?xml version="1.0" encoding="utf-8"?>
<p:tagLst xmlns:p="http://schemas.openxmlformats.org/presentationml/2006/main">
  <p:tag name="KSO_WM_DIAGRAM_VIRTUALLY_FRAME" val="{&quot;height&quot;:335,&quot;left&quot;:48.7,&quot;top&quot;:113.75,&quot;width&quot;:850}"/>
</p:tagLst>
</file>

<file path=ppt/tags/tag78.xml><?xml version="1.0" encoding="utf-8"?>
<p:tagLst xmlns:p="http://schemas.openxmlformats.org/presentationml/2006/main">
  <p:tag name="KSO_WM_DIAGRAM_VIRTUALLY_FRAME" val="{&quot;height&quot;:335,&quot;left&quot;:48.7,&quot;top&quot;:113.75,&quot;width&quot;:850}"/>
</p:tagLst>
</file>

<file path=ppt/tags/tag79.xml><?xml version="1.0" encoding="utf-8"?>
<p:tagLst xmlns:p="http://schemas.openxmlformats.org/presentationml/2006/main">
  <p:tag name="KSO_WM_DIAGRAM_VIRTUALLY_FRAME" val="{&quot;height&quot;:335,&quot;left&quot;:48.7,&quot;top&quot;:113.75,&quot;width&quot;:850}"/>
</p:tagLst>
</file>

<file path=ppt/tags/tag80.xml><?xml version="1.0" encoding="utf-8"?>
<p:tagLst xmlns:p="http://schemas.openxmlformats.org/presentationml/2006/main">
  <p:tag name="KSO_WM_DIAGRAM_VIRTUALLY_FRAME" val="{&quot;height&quot;:335,&quot;left&quot;:48.7,&quot;top&quot;:113.75,&quot;width&quot;:850}"/>
</p:tagLst>
</file>

<file path=ppt/tags/tag81.xml><?xml version="1.0" encoding="utf-8"?>
<p:tagLst xmlns:p="http://schemas.openxmlformats.org/presentationml/2006/main">
  <p:tag name="KSO_WM_DIAGRAM_VIRTUALLY_FRAME" val="{&quot;height&quot;:335,&quot;left&quot;:48.7,&quot;top&quot;:113.75,&quot;width&quot;:850}"/>
</p:tagLst>
</file>

<file path=ppt/tags/tag82.xml><?xml version="1.0" encoding="utf-8"?>
<p:tagLst xmlns:p="http://schemas.openxmlformats.org/presentationml/2006/main">
  <p:tag name="KSO_WM_DIAGRAM_VIRTUALLY_FRAME" val="{&quot;height&quot;:335,&quot;left&quot;:48.7,&quot;top&quot;:113.75,&quot;width&quot;:850}"/>
</p:tagLst>
</file>

<file path=ppt/tags/tag83.xml><?xml version="1.0" encoding="utf-8"?>
<p:tagLst xmlns:p="http://schemas.openxmlformats.org/presentationml/2006/main">
  <p:tag name="KSO_WM_DIAGRAM_VIRTUALLY_FRAME" val="{&quot;height&quot;:335,&quot;left&quot;:48.7,&quot;top&quot;:113.75,&quot;width&quot;:850}"/>
</p:tagLst>
</file>

<file path=ppt/tags/tag84.xml><?xml version="1.0" encoding="utf-8"?>
<p:tagLst xmlns:p="http://schemas.openxmlformats.org/presentationml/2006/main">
  <p:tag name="KSO_WM_DIAGRAM_VIRTUALLY_FRAME" val="{&quot;height&quot;:335,&quot;left&quot;:48.7,&quot;top&quot;:113.75,&quot;width&quot;:850}"/>
</p:tagLst>
</file>

<file path=ppt/tags/tag85.xml><?xml version="1.0" encoding="utf-8"?>
<p:tagLst xmlns:p="http://schemas.openxmlformats.org/presentationml/2006/main">
  <p:tag name="KSO_WM_DIAGRAM_VIRTUALLY_FRAME" val="{&quot;height&quot;:335,&quot;left&quot;:48.7,&quot;top&quot;:113.75,&quot;width&quot;:850}"/>
</p:tagLst>
</file>

<file path=ppt/tags/tag86.xml><?xml version="1.0" encoding="utf-8"?>
<p:tagLst xmlns:p="http://schemas.openxmlformats.org/presentationml/2006/main">
  <p:tag name="KSO_WM_DIAGRAM_VIRTUALLY_FRAME" val="{&quot;height&quot;:335,&quot;left&quot;:48.7,&quot;top&quot;:113.75,&quot;width&quot;:850}"/>
</p:tagLst>
</file>

<file path=ppt/tags/tag87.xml><?xml version="1.0" encoding="utf-8"?>
<p:tagLst xmlns:p="http://schemas.openxmlformats.org/presentationml/2006/main">
  <p:tag name="KSO_WM_DIAGRAM_VIRTUALLY_FRAME" val="{&quot;height&quot;:335,&quot;left&quot;:48.7,&quot;top&quot;:113.75,&quot;width&quot;:850}"/>
</p:tagLst>
</file>

<file path=ppt/tags/tag88.xml><?xml version="1.0" encoding="utf-8"?>
<p:tagLst xmlns:p="http://schemas.openxmlformats.org/presentationml/2006/main">
  <p:tag name="KSO_WM_DIAGRAM_VIRTUALLY_FRAME" val="{&quot;height&quot;:335,&quot;left&quot;:48.7,&quot;top&quot;:113.75,&quot;width&quot;:850}"/>
</p:tagLst>
</file>

<file path=ppt/tags/tag89.xml><?xml version="1.0" encoding="utf-8"?>
<p:tagLst xmlns:p="http://schemas.openxmlformats.org/presentationml/2006/main">
  <p:tag name="KSO_WM_DIAGRAM_VIRTUALLY_FRAME" val="{&quot;height&quot;:335,&quot;left&quot;:48.7,&quot;top&quot;:113.75,&quot;width&quot;:850}"/>
</p:tagLst>
</file>

<file path=ppt/tags/tag90.xml><?xml version="1.0" encoding="utf-8"?>
<p:tagLst xmlns:p="http://schemas.openxmlformats.org/presentationml/2006/main">
  <p:tag name="KSO_WM_DIAGRAM_VIRTUALLY_FRAME" val="{&quot;height&quot;:310,&quot;left&quot;:60,&quot;top&quot;:150,&quot;width&quot;:840}"/>
</p:tagLst>
</file>

<file path=ppt/tags/tag91.xml><?xml version="1.0" encoding="utf-8"?>
<p:tagLst xmlns:p="http://schemas.openxmlformats.org/presentationml/2006/main">
  <p:tag name="KSO_WM_DIAGRAM_VIRTUALLY_FRAME" val="{&quot;height&quot;:310,&quot;left&quot;:60,&quot;top&quot;:150,&quot;width&quot;:840}"/>
</p:tagLst>
</file>

<file path=ppt/tags/tag92.xml><?xml version="1.0" encoding="utf-8"?>
<p:tagLst xmlns:p="http://schemas.openxmlformats.org/presentationml/2006/main">
  <p:tag name="KSO_WM_DIAGRAM_VIRTUALLY_FRAME" val="{&quot;height&quot;:310,&quot;left&quot;:60,&quot;top&quot;:150,&quot;width&quot;:840}"/>
</p:tagLst>
</file>

<file path=ppt/tags/tag93.xml><?xml version="1.0" encoding="utf-8"?>
<p:tagLst xmlns:p="http://schemas.openxmlformats.org/presentationml/2006/main">
  <p:tag name="KSO_WM_DIAGRAM_VIRTUALLY_FRAME" val="{&quot;height&quot;:310,&quot;left&quot;:60,&quot;top&quot;:150,&quot;width&quot;:840}"/>
</p:tagLst>
</file>

<file path=ppt/tags/tag94.xml><?xml version="1.0" encoding="utf-8"?>
<p:tagLst xmlns:p="http://schemas.openxmlformats.org/presentationml/2006/main">
  <p:tag name="KSO_WM_DIAGRAM_VIRTUALLY_FRAME" val="{&quot;height&quot;:310,&quot;left&quot;:60,&quot;top&quot;:150,&quot;width&quot;:840}"/>
</p:tagLst>
</file>

<file path=ppt/tags/tag95.xml><?xml version="1.0" encoding="utf-8"?>
<p:tagLst xmlns:p="http://schemas.openxmlformats.org/presentationml/2006/main">
  <p:tag name="KSO_WM_DIAGRAM_VIRTUALLY_FRAME" val="{&quot;height&quot;:310,&quot;left&quot;:60,&quot;top&quot;:150,&quot;width&quot;:840}"/>
</p:tagLst>
</file>

<file path=ppt/tags/tag96.xml><?xml version="1.0" encoding="utf-8"?>
<p:tagLst xmlns:p="http://schemas.openxmlformats.org/presentationml/2006/main">
  <p:tag name="KSO_WM_DIAGRAM_VIRTUALLY_FRAME" val="{&quot;height&quot;:310,&quot;left&quot;:60,&quot;top&quot;:150,&quot;width&quot;:840}"/>
</p:tagLst>
</file>

<file path=ppt/tags/tag97.xml><?xml version="1.0" encoding="utf-8"?>
<p:tagLst xmlns:p="http://schemas.openxmlformats.org/presentationml/2006/main">
  <p:tag name="KSO_WM_DIAGRAM_VIRTUALLY_FRAME" val="{&quot;height&quot;:310,&quot;left&quot;:60,&quot;top&quot;:150,&quot;width&quot;:840}"/>
</p:tagLst>
</file>

<file path=ppt/tags/tag98.xml><?xml version="1.0" encoding="utf-8"?>
<p:tagLst xmlns:p="http://schemas.openxmlformats.org/presentationml/2006/main">
  <p:tag name="KSO_WM_DIAGRAM_VIRTUALLY_FRAME" val="{&quot;height&quot;:310,&quot;left&quot;:60,&quot;top&quot;:150,&quot;width&quot;:840}"/>
</p:tagLst>
</file>

<file path=ppt/tags/tag99.xml><?xml version="1.0" encoding="utf-8"?>
<p:tagLst xmlns:p="http://schemas.openxmlformats.org/presentationml/2006/main">
  <p:tag name="KSO_WM_DIAGRAM_VIRTUALLY_FRAME" val="{&quot;height&quot;:310,&quot;left&quot;:60,&quot;top&quot;:150,&quot;width&quot;:840}"/>
</p:tagLst>
</file>

<file path=ppt/tags/tag100.xml><?xml version="1.0" encoding="utf-8"?>
<p:tagLst xmlns:p="http://schemas.openxmlformats.org/presentationml/2006/main">
  <p:tag name="KSO_WM_DIAGRAM_VIRTUALLY_FRAME" val="{&quot;height&quot;:310,&quot;left&quot;:60,&quot;top&quot;:150,&quot;width&quot;:840}"/>
</p:tagLst>
</file>

<file path=ppt/tags/tag101.xml><?xml version="1.0" encoding="utf-8"?>
<p:tagLst xmlns:p="http://schemas.openxmlformats.org/presentationml/2006/main">
  <p:tag name="KSO_WM_DIAGRAM_VIRTUALLY_FRAME" val="{&quot;height&quot;:310,&quot;left&quot;:60,&quot;top&quot;:150,&quot;width&quot;:840}"/>
</p:tagLst>
</file>

<file path=ppt/tags/tag102.xml><?xml version="1.0" encoding="utf-8"?>
<p:tagLst xmlns:p="http://schemas.openxmlformats.org/presentationml/2006/main">
  <p:tag name="KSO_WM_DIAGRAM_VIRTUALLY_FRAME" val="{&quot;height&quot;:310,&quot;left&quot;:60,&quot;top&quot;:150,&quot;width&quot;:840}"/>
</p:tagLst>
</file>

<file path=ppt/tags/tag103.xml><?xml version="1.0" encoding="utf-8"?>
<p:tagLst xmlns:p="http://schemas.openxmlformats.org/presentationml/2006/main">
  <p:tag name="KSO_WM_DIAGRAM_VIRTUALLY_FRAME" val="{&quot;height&quot;:310,&quot;left&quot;:60,&quot;top&quot;:150,&quot;width&quot;:840}"/>
</p:tagLst>
</file>

<file path=ppt/tags/tag104.xml><?xml version="1.0" encoding="utf-8"?>
<p:tagLst xmlns:p="http://schemas.openxmlformats.org/presentationml/2006/main">
  <p:tag name="KSO_WM_DIAGRAM_VIRTUALLY_FRAME" val="{&quot;height&quot;:310,&quot;left&quot;:60,&quot;top&quot;:150,&quot;width&quot;:840}"/>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7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8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9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10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11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12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2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2376</Words>
  <Application>WPS 演示</Application>
  <PresentationFormat/>
  <Paragraphs>229</Paragraphs>
  <Slides>19</Slides>
  <Notes>0</Notes>
  <HiddenSlides>0</HiddenSlides>
  <MMClips>0</MMClips>
  <ScaleCrop>false</ScaleCrop>
  <HeadingPairs>
    <vt:vector size="6" baseType="variant">
      <vt:variant>
        <vt:lpstr>已用的字体</vt:lpstr>
      </vt:variant>
      <vt:variant>
        <vt:i4>7</vt:i4>
      </vt:variant>
      <vt:variant>
        <vt:lpstr>主题</vt:lpstr>
      </vt:variant>
      <vt:variant>
        <vt:i4>10</vt:i4>
      </vt:variant>
      <vt:variant>
        <vt:lpstr>幻灯片标题</vt:lpstr>
      </vt:variant>
      <vt:variant>
        <vt:i4>19</vt:i4>
      </vt:variant>
    </vt:vector>
  </HeadingPairs>
  <TitlesOfParts>
    <vt:vector size="36" baseType="lpstr">
      <vt:lpstr>Arial</vt:lpstr>
      <vt:lpstr>宋体</vt:lpstr>
      <vt:lpstr>Wingdings</vt:lpstr>
      <vt:lpstr>Arial</vt:lpstr>
      <vt:lpstr>Noto Sans SC</vt:lpstr>
      <vt:lpstr>微软雅黑</vt:lpstr>
      <vt:lpstr>Arial Unicode MS</vt:lpstr>
      <vt:lpstr>Office 主题​​</vt:lpstr>
      <vt:lpstr>默认主题</vt:lpstr>
      <vt:lpstr>1_默认主题</vt:lpstr>
      <vt:lpstr>7_默认主题</vt:lpstr>
      <vt:lpstr>8_默认主题</vt:lpstr>
      <vt:lpstr>9_默认主题</vt:lpstr>
      <vt:lpstr>10_默认主题</vt:lpstr>
      <vt:lpstr>11_默认主题</vt:lpstr>
      <vt:lpstr>12_默认主题</vt:lpstr>
      <vt:lpstr>2_默认主题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gggggggmeile</cp:lastModifiedBy>
  <cp:revision>34</cp:revision>
  <dcterms:created xsi:type="dcterms:W3CDTF">2026-07-21T02:53:00Z</dcterms:created>
  <dcterms:modified xsi:type="dcterms:W3CDTF">2026-09-15T01:43:37Z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{"Label":"1","ContentProducer":"001191110102MACQD9K64010000","ProduceID":"7662320990613343192","ReservedCode1":"","ContentPropagator":"","PropagateID":"","ReservedCode2":""}</vt:lpwstr>
  </property>
  <property fmtid="{D5CDD505-2E9C-101B-9397-08002B2CF9AE}" pid="3" name="ICV">
    <vt:lpwstr>98A01AF1B97D4B268311379700416866_12</vt:lpwstr>
  </property>
  <property fmtid="{D5CDD505-2E9C-101B-9397-08002B2CF9AE}" pid="4" name="KSOProductBuildVer">
    <vt:lpwstr>2052-12.1.0.20305</vt:lpwstr>
  </property>
</Properties>
</file>